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64" r:id="rId2"/>
    <p:sldId id="257" r:id="rId3"/>
    <p:sldId id="268" r:id="rId4"/>
    <p:sldId id="260" r:id="rId5"/>
    <p:sldId id="261" r:id="rId6"/>
    <p:sldId id="266" r:id="rId7"/>
    <p:sldId id="267" r:id="rId8"/>
    <p:sldId id="262" r:id="rId9"/>
    <p:sldId id="270" r:id="rId10"/>
    <p:sldId id="263" r:id="rId11"/>
    <p:sldId id="265"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9AA62"/>
    <a:srgbClr val="F789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71150-7EB4-4631-8CB3-A1CA91DD75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8A50825-7F6D-4BE6-B4EF-4C5D6D03A7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E771D7D-5595-4A28-83A5-2DAB962C377B}"/>
              </a:ext>
            </a:extLst>
          </p:cNvPr>
          <p:cNvSpPr>
            <a:spLocks noGrp="1"/>
          </p:cNvSpPr>
          <p:nvPr>
            <p:ph type="dt" sz="half" idx="10"/>
          </p:nvPr>
        </p:nvSpPr>
        <p:spPr/>
        <p:txBody>
          <a:bodyPr/>
          <a:lstStyle/>
          <a:p>
            <a:fld id="{78ABE3C1-DBE1-495D-B57B-2849774B866A}" type="datetimeFigureOut">
              <a:rPr lang="en-US" smtClean="0"/>
              <a:t>1/9/2022</a:t>
            </a:fld>
            <a:endParaRPr lang="en-US" dirty="0"/>
          </a:p>
        </p:txBody>
      </p:sp>
      <p:sp>
        <p:nvSpPr>
          <p:cNvPr id="5" name="Footer Placeholder 4">
            <a:extLst>
              <a:ext uri="{FF2B5EF4-FFF2-40B4-BE49-F238E27FC236}">
                <a16:creationId xmlns:a16="http://schemas.microsoft.com/office/drawing/2014/main" id="{613670EE-FC73-4692-980F-8D5433725E1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D3DAF62-AF76-45B1-A33B-AE4710EC36B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31295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2171A-4D58-4652-9FD2-0CD2ED7C0CE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E26BCC9-9BD5-4AFD-82C8-BEAF57C629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2A7391-02CF-4232-8479-9FE719AA69B9}"/>
              </a:ext>
            </a:extLst>
          </p:cNvPr>
          <p:cNvSpPr>
            <a:spLocks noGrp="1"/>
          </p:cNvSpPr>
          <p:nvPr>
            <p:ph type="dt" sz="half" idx="10"/>
          </p:nvPr>
        </p:nvSpPr>
        <p:spPr/>
        <p:txBody>
          <a:bodyPr/>
          <a:lstStyle/>
          <a:p>
            <a:fld id="{12DE42F4-6EEF-4EF7-8ED4-2208F0F89A08}" type="datetimeFigureOut">
              <a:rPr lang="en-US" smtClean="0"/>
              <a:t>1/9/2022</a:t>
            </a:fld>
            <a:endParaRPr lang="en-US" dirty="0"/>
          </a:p>
        </p:txBody>
      </p:sp>
      <p:sp>
        <p:nvSpPr>
          <p:cNvPr id="5" name="Footer Placeholder 4">
            <a:extLst>
              <a:ext uri="{FF2B5EF4-FFF2-40B4-BE49-F238E27FC236}">
                <a16:creationId xmlns:a16="http://schemas.microsoft.com/office/drawing/2014/main" id="{C1FD01EF-3A67-4579-A161-C697BC055CE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8065456-89E0-404E-8F12-94E6BD2EC0C2}"/>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32410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F54E-1EB6-43B7-82B6-5325C00533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2527C23-32E1-456A-99C3-BD2D7D50A1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825A8B-D78C-4C44-B0E7-A93F24627ADC}"/>
              </a:ext>
            </a:extLst>
          </p:cNvPr>
          <p:cNvSpPr>
            <a:spLocks noGrp="1"/>
          </p:cNvSpPr>
          <p:nvPr>
            <p:ph type="dt" sz="half" idx="10"/>
          </p:nvPr>
        </p:nvSpPr>
        <p:spPr/>
        <p:txBody>
          <a:bodyPr/>
          <a:lstStyle/>
          <a:p>
            <a:fld id="{30578ACC-22D6-47C1-A373-4FD133E34F3C}" type="datetimeFigureOut">
              <a:rPr lang="en-US" smtClean="0"/>
              <a:t>1/9/2022</a:t>
            </a:fld>
            <a:endParaRPr lang="en-US" dirty="0"/>
          </a:p>
        </p:txBody>
      </p:sp>
      <p:sp>
        <p:nvSpPr>
          <p:cNvPr id="5" name="Footer Placeholder 4">
            <a:extLst>
              <a:ext uri="{FF2B5EF4-FFF2-40B4-BE49-F238E27FC236}">
                <a16:creationId xmlns:a16="http://schemas.microsoft.com/office/drawing/2014/main" id="{3A928932-FC97-4075-8273-C0A3FD56A5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DC6018B-FB5D-4267-AE50-B1AD958F7A3F}"/>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92836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635E4-2A9A-4015-92FE-01919BE7275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F3D4E9D-3E5B-4DA7-8DD7-D9535A00FA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D5A2383-6BD3-4841-A399-273B3EBB9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86E1B95-3B09-4B76-B82E-9B3C0D3ED5C5}"/>
              </a:ext>
            </a:extLst>
          </p:cNvPr>
          <p:cNvSpPr>
            <a:spLocks noGrp="1"/>
          </p:cNvSpPr>
          <p:nvPr>
            <p:ph type="dt" sz="half" idx="10"/>
          </p:nvPr>
        </p:nvSpPr>
        <p:spPr/>
        <p:txBody>
          <a:bodyPr/>
          <a:lstStyle/>
          <a:p>
            <a:fld id="{4E5A6C69-6797-4E8A-BF37-F2C3751466E9}" type="datetimeFigureOut">
              <a:rPr lang="en-US" smtClean="0"/>
              <a:t>1/9/2022</a:t>
            </a:fld>
            <a:endParaRPr lang="en-US" dirty="0"/>
          </a:p>
        </p:txBody>
      </p:sp>
      <p:sp>
        <p:nvSpPr>
          <p:cNvPr id="6" name="Footer Placeholder 5">
            <a:extLst>
              <a:ext uri="{FF2B5EF4-FFF2-40B4-BE49-F238E27FC236}">
                <a16:creationId xmlns:a16="http://schemas.microsoft.com/office/drawing/2014/main" id="{D68CDFF1-A71E-4841-AA92-8514E8B91E5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828EE87-F125-47EC-AAC2-EEFD3BD66397}"/>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8347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46BE9-1EDC-4146-848D-12E7590B36C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E8644F-950D-4D8F-8846-40140DADEE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9CA8EB-657E-4446-8CD5-C7AFDA4009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1D2F3FF-0E4E-42EE-B4B0-1D592FDC22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EC9520-3945-41FE-9F94-A4F5F00BBB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7A214C2-1223-4466-8CC5-177D8296254A}"/>
              </a:ext>
            </a:extLst>
          </p:cNvPr>
          <p:cNvSpPr>
            <a:spLocks noGrp="1"/>
          </p:cNvSpPr>
          <p:nvPr>
            <p:ph type="dt" sz="half" idx="10"/>
          </p:nvPr>
        </p:nvSpPr>
        <p:spPr/>
        <p:txBody>
          <a:bodyPr/>
          <a:lstStyle/>
          <a:p>
            <a:fld id="{D82014A1-A632-4878-A0D3-F52BA7563730}" type="datetimeFigureOut">
              <a:rPr lang="en-US" smtClean="0"/>
              <a:t>1/9/2022</a:t>
            </a:fld>
            <a:endParaRPr lang="en-US" dirty="0"/>
          </a:p>
        </p:txBody>
      </p:sp>
      <p:sp>
        <p:nvSpPr>
          <p:cNvPr id="8" name="Footer Placeholder 7">
            <a:extLst>
              <a:ext uri="{FF2B5EF4-FFF2-40B4-BE49-F238E27FC236}">
                <a16:creationId xmlns:a16="http://schemas.microsoft.com/office/drawing/2014/main" id="{C100D58E-CD14-43AC-A262-EAA501BD770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6CE5434-8314-4B2C-B19A-E93C493E888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81373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567DD-DE5E-4539-AE6D-AF3916DDB4F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7A825BC-E711-4763-AC3C-6D3CD5B9F3C9}"/>
              </a:ext>
            </a:extLst>
          </p:cNvPr>
          <p:cNvSpPr>
            <a:spLocks noGrp="1"/>
          </p:cNvSpPr>
          <p:nvPr>
            <p:ph type="dt" sz="half" idx="10"/>
          </p:nvPr>
        </p:nvSpPr>
        <p:spPr/>
        <p:txBody>
          <a:bodyPr/>
          <a:lstStyle/>
          <a:p>
            <a:fld id="{CE99F462-093F-4566-844B-4C71F2739DA5}" type="datetimeFigureOut">
              <a:rPr lang="en-US" smtClean="0"/>
              <a:t>1/9/2022</a:t>
            </a:fld>
            <a:endParaRPr lang="en-US" dirty="0"/>
          </a:p>
        </p:txBody>
      </p:sp>
      <p:sp>
        <p:nvSpPr>
          <p:cNvPr id="4" name="Footer Placeholder 3">
            <a:extLst>
              <a:ext uri="{FF2B5EF4-FFF2-40B4-BE49-F238E27FC236}">
                <a16:creationId xmlns:a16="http://schemas.microsoft.com/office/drawing/2014/main" id="{986BBBB0-2477-4753-BE10-285EA3A701C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C6A7356-0ED1-4B19-9A2A-50C5D307052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05367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477911-E120-4611-AD5C-39BE8193B562}"/>
              </a:ext>
            </a:extLst>
          </p:cNvPr>
          <p:cNvSpPr>
            <a:spLocks noGrp="1"/>
          </p:cNvSpPr>
          <p:nvPr>
            <p:ph type="dt" sz="half" idx="10"/>
          </p:nvPr>
        </p:nvSpPr>
        <p:spPr/>
        <p:txBody>
          <a:bodyPr/>
          <a:lstStyle/>
          <a:p>
            <a:fld id="{3D24A7AC-904D-4781-85BA-7D10C17ED021}" type="datetimeFigureOut">
              <a:rPr lang="en-US" smtClean="0"/>
              <a:t>1/9/2022</a:t>
            </a:fld>
            <a:endParaRPr lang="en-US" dirty="0"/>
          </a:p>
        </p:txBody>
      </p:sp>
      <p:sp>
        <p:nvSpPr>
          <p:cNvPr id="3" name="Footer Placeholder 2">
            <a:extLst>
              <a:ext uri="{FF2B5EF4-FFF2-40B4-BE49-F238E27FC236}">
                <a16:creationId xmlns:a16="http://schemas.microsoft.com/office/drawing/2014/main" id="{FC51E2B5-7E1F-4D3E-8FA5-F29EA60E2EF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7837731-4CCB-4F44-B193-AF87C187663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07206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5F6D6-0958-4F50-A904-72646C171B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D9557AB-1448-46CE-A5A1-B1FC57000A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5C9DCBF-516E-4832-B525-29E8D26B6A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CEDDC3-C85D-4E26-820C-31E9F6BB25DD}"/>
              </a:ext>
            </a:extLst>
          </p:cNvPr>
          <p:cNvSpPr>
            <a:spLocks noGrp="1"/>
          </p:cNvSpPr>
          <p:nvPr>
            <p:ph type="dt" sz="half" idx="10"/>
          </p:nvPr>
        </p:nvSpPr>
        <p:spPr/>
        <p:txBody>
          <a:bodyPr/>
          <a:lstStyle/>
          <a:p>
            <a:fld id="{E331444B-B92B-4E27-8C94-BB93EAF5CB18}" type="datetimeFigureOut">
              <a:rPr lang="en-US" smtClean="0"/>
              <a:t>1/9/2022</a:t>
            </a:fld>
            <a:endParaRPr lang="en-US" dirty="0"/>
          </a:p>
        </p:txBody>
      </p:sp>
      <p:sp>
        <p:nvSpPr>
          <p:cNvPr id="6" name="Footer Placeholder 5">
            <a:extLst>
              <a:ext uri="{FF2B5EF4-FFF2-40B4-BE49-F238E27FC236}">
                <a16:creationId xmlns:a16="http://schemas.microsoft.com/office/drawing/2014/main" id="{85D9F024-6BE4-4A46-A835-90DD0F45F58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00A732-C3B4-40E1-8835-105BEF3110A9}"/>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830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E94AC-661E-49A8-932E-EE6CD4EC8B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A997489-B252-4444-8CEE-CE65556223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F5A73DE-682E-4400-8988-EAA789D7B3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5B0A5D-B0E9-4C1D-BDBA-8E980947A883}"/>
              </a:ext>
            </a:extLst>
          </p:cNvPr>
          <p:cNvSpPr>
            <a:spLocks noGrp="1"/>
          </p:cNvSpPr>
          <p:nvPr>
            <p:ph type="dt" sz="half" idx="10"/>
          </p:nvPr>
        </p:nvSpPr>
        <p:spPr/>
        <p:txBody>
          <a:bodyPr/>
          <a:lstStyle/>
          <a:p>
            <a:fld id="{363EFA5E-FA76-400D-B3DC-F0BA90E6D107}" type="datetimeFigureOut">
              <a:rPr lang="en-US" smtClean="0"/>
              <a:t>1/9/2022</a:t>
            </a:fld>
            <a:endParaRPr lang="en-US" dirty="0"/>
          </a:p>
        </p:txBody>
      </p:sp>
      <p:sp>
        <p:nvSpPr>
          <p:cNvPr id="6" name="Footer Placeholder 5">
            <a:extLst>
              <a:ext uri="{FF2B5EF4-FFF2-40B4-BE49-F238E27FC236}">
                <a16:creationId xmlns:a16="http://schemas.microsoft.com/office/drawing/2014/main" id="{394935BE-60FC-482A-986C-011E4915CFF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8454328-9E43-47FB-82C3-0FE7B106BCFC}"/>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29978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9C753-79D9-44FA-91A5-F5F3AA337BF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6C6FFB2-F7D7-48CB-A7DC-CAC57D9724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87143A-4C33-4015-B8DA-D53669691B5B}"/>
              </a:ext>
            </a:extLst>
          </p:cNvPr>
          <p:cNvSpPr>
            <a:spLocks noGrp="1"/>
          </p:cNvSpPr>
          <p:nvPr>
            <p:ph type="dt" sz="half" idx="10"/>
          </p:nvPr>
        </p:nvSpPr>
        <p:spPr/>
        <p:txBody>
          <a:bodyPr/>
          <a:lstStyle/>
          <a:p>
            <a:fld id="{1FA3F48C-C7C6-4055-9F49-3777875E72AE}" type="datetimeFigureOut">
              <a:rPr lang="en-US" smtClean="0"/>
              <a:t>1/9/2022</a:t>
            </a:fld>
            <a:endParaRPr lang="en-US" dirty="0"/>
          </a:p>
        </p:txBody>
      </p:sp>
      <p:sp>
        <p:nvSpPr>
          <p:cNvPr id="5" name="Footer Placeholder 4">
            <a:extLst>
              <a:ext uri="{FF2B5EF4-FFF2-40B4-BE49-F238E27FC236}">
                <a16:creationId xmlns:a16="http://schemas.microsoft.com/office/drawing/2014/main" id="{D57BA52F-652C-495B-9426-25480689658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2E192A-0A06-4C96-86C3-7EC4ADC25F5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31560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3B14A2-6FB7-4093-B090-E5E6FAB6D7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44FA5E9-4AE5-4FFF-99C8-915B60FDA0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5EEE776-F8C7-4445-B714-F86A5A7472B3}"/>
              </a:ext>
            </a:extLst>
          </p:cNvPr>
          <p:cNvSpPr>
            <a:spLocks noGrp="1"/>
          </p:cNvSpPr>
          <p:nvPr>
            <p:ph type="dt" sz="half" idx="10"/>
          </p:nvPr>
        </p:nvSpPr>
        <p:spPr/>
        <p:txBody>
          <a:bodyPr/>
          <a:lstStyle/>
          <a:p>
            <a:fld id="{6178E61D-D431-422C-9764-11DAFE33AB63}" type="datetimeFigureOut">
              <a:rPr lang="en-US" smtClean="0"/>
              <a:t>1/9/2022</a:t>
            </a:fld>
            <a:endParaRPr lang="en-US" dirty="0"/>
          </a:p>
        </p:txBody>
      </p:sp>
      <p:sp>
        <p:nvSpPr>
          <p:cNvPr id="5" name="Footer Placeholder 4">
            <a:extLst>
              <a:ext uri="{FF2B5EF4-FFF2-40B4-BE49-F238E27FC236}">
                <a16:creationId xmlns:a16="http://schemas.microsoft.com/office/drawing/2014/main" id="{6961958C-A0A8-4AC5-A95C-2D978BE99C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43F21A6-8A30-4A00-BFF8-7ED779B0BE33}"/>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34086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000">
              <a:schemeClr val="accent1">
                <a:lumMod val="40000"/>
                <a:lumOff val="60000"/>
              </a:schemeClr>
            </a:gs>
            <a:gs pos="67000">
              <a:schemeClr val="accent1">
                <a:lumMod val="95000"/>
                <a:lumOff val="5000"/>
              </a:schemeClr>
            </a:gs>
            <a:gs pos="100000">
              <a:schemeClr val="accent1">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0FEB8F-818F-431F-9B77-3ACF2E77D4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D93D589-5FD3-43AD-A57E-35A7358FD3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794993-024D-4535-AE7C-8A612C276D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E9DEC-419B-4CC5-A080-3B06BD5A8291}" type="datetimeFigureOut">
              <a:rPr lang="en-US" smtClean="0"/>
              <a:t>1/9/2022</a:t>
            </a:fld>
            <a:endParaRPr lang="en-US" dirty="0"/>
          </a:p>
        </p:txBody>
      </p:sp>
      <p:sp>
        <p:nvSpPr>
          <p:cNvPr id="5" name="Footer Placeholder 4">
            <a:extLst>
              <a:ext uri="{FF2B5EF4-FFF2-40B4-BE49-F238E27FC236}">
                <a16:creationId xmlns:a16="http://schemas.microsoft.com/office/drawing/2014/main" id="{A91F0C80-3CE0-4A7F-84B3-CB8BB3BB11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A37314D-B966-414F-B481-E4450B8A70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5121965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jpg"/><Relationship Id="rId5" Type="http://schemas.microsoft.com/office/2007/relationships/hdphoto" Target="../media/hdphoto1.wdp"/><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4A728-C12C-41A9-BDE3-A47E2FAC8F43}"/>
              </a:ext>
            </a:extLst>
          </p:cNvPr>
          <p:cNvSpPr>
            <a:spLocks noGrp="1"/>
          </p:cNvSpPr>
          <p:nvPr>
            <p:ph type="ctrTitle"/>
          </p:nvPr>
        </p:nvSpPr>
        <p:spPr>
          <a:xfrm>
            <a:off x="1143000" y="355600"/>
            <a:ext cx="9144000" cy="1308099"/>
          </a:xfrm>
        </p:spPr>
        <p:txBody>
          <a:bodyPr>
            <a:normAutofit/>
          </a:bodyPr>
          <a:lstStyle/>
          <a:p>
            <a:r>
              <a:rPr lang="fr-FR" sz="1800" dirty="0">
                <a:ln w="0"/>
                <a:solidFill>
                  <a:schemeClr val="bg1"/>
                </a:solidFill>
                <a:effectLst>
                  <a:outerShdw blurRad="38100" dist="19050" dir="2700000" algn="tl" rotWithShape="0">
                    <a:schemeClr val="dk1">
                      <a:alpha val="40000"/>
                    </a:schemeClr>
                  </a:outerShdw>
                </a:effectLst>
              </a:rPr>
              <a:t>UNIVERSITE DES SCIENCES ET TECHNOLOGIE HOUARI BOUMEDIENE</a:t>
            </a:r>
            <a:br>
              <a:rPr lang="fr-FR" sz="1800" dirty="0">
                <a:ln w="0"/>
                <a:solidFill>
                  <a:schemeClr val="bg1"/>
                </a:solidFill>
                <a:effectLst>
                  <a:outerShdw blurRad="38100" dist="19050" dir="2700000" algn="tl" rotWithShape="0">
                    <a:schemeClr val="dk1">
                      <a:alpha val="40000"/>
                    </a:schemeClr>
                  </a:outerShdw>
                </a:effectLst>
              </a:rPr>
            </a:br>
            <a:r>
              <a:rPr lang="fr-FR" sz="1800" dirty="0">
                <a:ln w="0"/>
                <a:solidFill>
                  <a:schemeClr val="bg1"/>
                </a:solidFill>
                <a:effectLst>
                  <a:outerShdw blurRad="38100" dist="19050" dir="2700000" algn="tl" rotWithShape="0">
                    <a:schemeClr val="dk1">
                      <a:alpha val="40000"/>
                    </a:schemeClr>
                  </a:outerShdw>
                </a:effectLst>
              </a:rPr>
              <a:t>FACULTE  DE  MATHÉMATIQUES</a:t>
            </a:r>
            <a:br>
              <a:rPr lang="fr-FR" sz="1800" dirty="0">
                <a:ln w="0"/>
                <a:solidFill>
                  <a:schemeClr val="bg1"/>
                </a:solidFill>
                <a:effectLst>
                  <a:outerShdw blurRad="38100" dist="19050" dir="2700000" algn="tl" rotWithShape="0">
                    <a:schemeClr val="dk1">
                      <a:alpha val="40000"/>
                    </a:schemeClr>
                  </a:outerShdw>
                </a:effectLst>
              </a:rPr>
            </a:br>
            <a:r>
              <a:rPr lang="fr-FR" sz="1800" dirty="0">
                <a:ln w="0"/>
                <a:solidFill>
                  <a:schemeClr val="bg1"/>
                </a:solidFill>
                <a:effectLst>
                  <a:outerShdw blurRad="38100" dist="19050" dir="2700000" algn="tl" rotWithShape="0">
                    <a:schemeClr val="dk1">
                      <a:alpha val="40000"/>
                    </a:schemeClr>
                  </a:outerShdw>
                </a:effectLst>
              </a:rPr>
              <a:t>DEPARTEMENT DÉPARTEMENT DE PROBA STAT</a:t>
            </a:r>
            <a:br>
              <a:rPr lang="fr-FR" sz="1800" dirty="0">
                <a:ln w="0"/>
                <a:solidFill>
                  <a:schemeClr val="bg1"/>
                </a:solidFill>
                <a:effectLst>
                  <a:outerShdw blurRad="38100" dist="19050" dir="2700000" algn="tl" rotWithShape="0">
                    <a:schemeClr val="dk1">
                      <a:alpha val="40000"/>
                    </a:schemeClr>
                  </a:outerShdw>
                </a:effectLst>
              </a:rPr>
            </a:br>
            <a:r>
              <a:rPr lang="fr-FR" sz="1800" dirty="0">
                <a:ln w="0"/>
                <a:solidFill>
                  <a:schemeClr val="bg1"/>
                </a:solidFill>
                <a:effectLst>
                  <a:outerShdw blurRad="38100" dist="19050" dir="2700000" algn="tl" rotWithShape="0">
                    <a:schemeClr val="dk1">
                      <a:alpha val="40000"/>
                    </a:schemeClr>
                  </a:outerShdw>
                </a:effectLst>
              </a:rPr>
              <a:t>MASTER2-SPA</a:t>
            </a:r>
            <a:r>
              <a:rPr lang="fr-FR" sz="1800" dirty="0"/>
              <a:t> </a:t>
            </a:r>
            <a:endParaRPr lang="en-GB" sz="1800" b="1" dirty="0">
              <a:latin typeface="Colonna MT" panose="04020805060202030203" pitchFamily="82" charset="0"/>
            </a:endParaRPr>
          </a:p>
        </p:txBody>
      </p:sp>
      <p:sp>
        <p:nvSpPr>
          <p:cNvPr id="3" name="Rectangle 2"/>
          <p:cNvSpPr/>
          <p:nvPr/>
        </p:nvSpPr>
        <p:spPr>
          <a:xfrm>
            <a:off x="2032000" y="2202934"/>
            <a:ext cx="7327900" cy="1446550"/>
          </a:xfrm>
          <a:prstGeom prst="rect">
            <a:avLst/>
          </a:prstGeom>
        </p:spPr>
        <p:txBody>
          <a:bodyPr wrap="square">
            <a:spAutoFit/>
          </a:bodyPr>
          <a:lstStyle/>
          <a:p>
            <a:pPr algn="ctr"/>
            <a:r>
              <a:rPr lang="fr-FR" sz="4400" b="1" spc="50" dirty="0">
                <a:ln w="9525" cmpd="sng">
                  <a:solidFill>
                    <a:schemeClr val="accent1"/>
                  </a:solidFill>
                  <a:prstDash val="solid"/>
                </a:ln>
                <a:solidFill>
                  <a:schemeClr val="bg1"/>
                </a:solidFill>
                <a:effectLst>
                  <a:glow rad="38100">
                    <a:schemeClr val="accent1">
                      <a:alpha val="40000"/>
                    </a:schemeClr>
                  </a:glow>
                </a:effectLst>
                <a:latin typeface="Lucida Calligraphy" pitchFamily="66" charset="0"/>
              </a:rPr>
              <a:t>PROJET DE DATA MINING</a:t>
            </a:r>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80051" y="387989"/>
            <a:ext cx="1176949" cy="1176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5"/>
          <p:cNvSpPr/>
          <p:nvPr/>
        </p:nvSpPr>
        <p:spPr>
          <a:xfrm>
            <a:off x="1993900" y="3822700"/>
            <a:ext cx="7150100" cy="1569660"/>
          </a:xfrm>
          <a:prstGeom prst="rect">
            <a:avLst/>
          </a:prstGeom>
        </p:spPr>
        <p:txBody>
          <a:bodyPr wrap="square">
            <a:spAutoFit/>
          </a:bodyPr>
          <a:lstStyle/>
          <a:p>
            <a:pPr algn="ctr"/>
            <a:r>
              <a:rPr lang="fr-FR" sz="3200" b="1" dirty="0">
                <a:ln w="6600">
                  <a:solidFill>
                    <a:schemeClr val="accent2"/>
                  </a:solidFill>
                  <a:prstDash val="solid"/>
                </a:ln>
                <a:solidFill>
                  <a:srgbClr val="FFFFFF"/>
                </a:solidFill>
                <a:effectLst>
                  <a:outerShdw dist="38100" dir="2700000" algn="tl" rotWithShape="0">
                    <a:schemeClr val="accent2"/>
                  </a:outerShdw>
                </a:effectLst>
              </a:rPr>
              <a:t>LA classification des données par l’algorithme de</a:t>
            </a:r>
          </a:p>
          <a:p>
            <a:pPr algn="ctr"/>
            <a:r>
              <a:rPr lang="fr-FR" sz="3200" b="1" dirty="0">
                <a:ln w="6600">
                  <a:solidFill>
                    <a:schemeClr val="accent2"/>
                  </a:solidFill>
                  <a:prstDash val="solid"/>
                </a:ln>
                <a:solidFill>
                  <a:srgbClr val="FFFFFF"/>
                </a:solidFill>
                <a:effectLst>
                  <a:outerShdw dist="38100" dir="2700000" algn="tl" rotWithShape="0">
                    <a:schemeClr val="accent2"/>
                  </a:outerShdw>
                </a:effectLst>
              </a:rPr>
              <a:t> Réseaux de neurone</a:t>
            </a:r>
          </a:p>
        </p:txBody>
      </p:sp>
      <p:sp>
        <p:nvSpPr>
          <p:cNvPr id="7" name="Rectangle 6"/>
          <p:cNvSpPr/>
          <p:nvPr/>
        </p:nvSpPr>
        <p:spPr>
          <a:xfrm>
            <a:off x="330200" y="5621635"/>
            <a:ext cx="6096000" cy="923330"/>
          </a:xfrm>
          <a:prstGeom prst="rect">
            <a:avLst/>
          </a:prstGeom>
        </p:spPr>
        <p:txBody>
          <a:bodyPr>
            <a:spAutoFit/>
          </a:bodyPr>
          <a:lstStyle/>
          <a:p>
            <a:r>
              <a:rPr lang="fr-FR" b="1" u="sng" dirty="0">
                <a:solidFill>
                  <a:schemeClr val="bg1"/>
                </a:solidFill>
              </a:rPr>
              <a:t>PRESENTE PAR</a:t>
            </a:r>
            <a:r>
              <a:rPr lang="fr-FR" dirty="0">
                <a:solidFill>
                  <a:schemeClr val="bg1"/>
                </a:solidFill>
              </a:rPr>
              <a:t> : </a:t>
            </a:r>
          </a:p>
          <a:p>
            <a:pPr marL="285750" indent="-285750">
              <a:buFont typeface="Arial" panose="020B0604020202020204" pitchFamily="34" charset="0"/>
              <a:buChar char="•"/>
            </a:pPr>
            <a:r>
              <a:rPr lang="fr-FR" dirty="0">
                <a:solidFill>
                  <a:schemeClr val="bg1"/>
                </a:solidFill>
              </a:rPr>
              <a:t>DADDI BOUHOUN Brahim</a:t>
            </a:r>
          </a:p>
          <a:p>
            <a:pPr marL="285750" indent="-285750">
              <a:buFont typeface="Arial" panose="020B0604020202020204" pitchFamily="34" charset="0"/>
              <a:buChar char="•"/>
            </a:pPr>
            <a:r>
              <a:rPr lang="fr-FR" dirty="0">
                <a:solidFill>
                  <a:schemeClr val="bg1"/>
                </a:solidFill>
              </a:rPr>
              <a:t>ZIGADI Yacine</a:t>
            </a:r>
          </a:p>
        </p:txBody>
      </p:sp>
    </p:spTree>
    <p:extLst>
      <p:ext uri="{BB962C8B-B14F-4D97-AF65-F5344CB8AC3E}">
        <p14:creationId xmlns:p14="http://schemas.microsoft.com/office/powerpoint/2010/main" val="3326428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7ED77BB-B97D-49E3-BE06-22C96AA95252}"/>
              </a:ext>
            </a:extLst>
          </p:cNvPr>
          <p:cNvSpPr>
            <a:spLocks noGrp="1"/>
          </p:cNvSpPr>
          <p:nvPr>
            <p:ph type="title"/>
          </p:nvPr>
        </p:nvSpPr>
        <p:spPr>
          <a:xfrm>
            <a:off x="2816437" y="1580093"/>
            <a:ext cx="6559115" cy="662781"/>
          </a:xfrm>
        </p:spPr>
        <p:txBody>
          <a:bodyPr>
            <a:noAutofit/>
          </a:bodyPr>
          <a:lstStyle/>
          <a:p>
            <a:pPr algn="ctr"/>
            <a:r>
              <a:rPr lang="fr-FR" sz="5400" dirty="0">
                <a:solidFill>
                  <a:srgbClr val="FFFF00"/>
                </a:solidFill>
                <a:latin typeface="Colonna MT" panose="04020805060202030203" pitchFamily="82" charset="0"/>
              </a:rPr>
              <a:t>Objectif du projet</a:t>
            </a:r>
            <a:endParaRPr lang="en-GB" sz="5400" dirty="0">
              <a:solidFill>
                <a:srgbClr val="FFFF00"/>
              </a:solidFill>
              <a:latin typeface="Colonna MT" panose="04020805060202030203" pitchFamily="82" charset="0"/>
            </a:endParaRPr>
          </a:p>
        </p:txBody>
      </p:sp>
      <p:sp>
        <p:nvSpPr>
          <p:cNvPr id="2" name="TextBox 1">
            <a:extLst>
              <a:ext uri="{FF2B5EF4-FFF2-40B4-BE49-F238E27FC236}">
                <a16:creationId xmlns:a16="http://schemas.microsoft.com/office/drawing/2014/main" id="{4DF01666-AEB7-4C6C-A694-D2F893FCCA01}"/>
              </a:ext>
            </a:extLst>
          </p:cNvPr>
          <p:cNvSpPr txBox="1"/>
          <p:nvPr/>
        </p:nvSpPr>
        <p:spPr>
          <a:xfrm>
            <a:off x="1214506" y="2438791"/>
            <a:ext cx="9762979" cy="2554545"/>
          </a:xfrm>
          <a:prstGeom prst="rect">
            <a:avLst/>
          </a:prstGeom>
          <a:noFill/>
        </p:spPr>
        <p:txBody>
          <a:bodyPr wrap="square" rtlCol="0">
            <a:spAutoFit/>
          </a:bodyPr>
          <a:lstStyle/>
          <a:p>
            <a:pPr marL="285750" indent="-285750" algn="ctr">
              <a:buFont typeface="Arial" panose="020B0604020202020204" pitchFamily="34" charset="0"/>
              <a:buChar char="•"/>
            </a:pPr>
            <a:r>
              <a:rPr lang="fr-FR" sz="3200" b="1" dirty="0">
                <a:latin typeface="PMingLiU-ExtB" panose="02020500000000000000" pitchFamily="18" charset="-120"/>
                <a:ea typeface="PMingLiU-ExtB" panose="02020500000000000000" pitchFamily="18" charset="-120"/>
              </a:rPr>
              <a:t>Déterminer ce qui rend une personne à risque pour les maladies cardiaques</a:t>
            </a:r>
          </a:p>
          <a:p>
            <a:pPr marL="285750" indent="-285750" algn="ctr">
              <a:buFont typeface="Arial" panose="020B0604020202020204" pitchFamily="34" charset="0"/>
              <a:buChar char="•"/>
            </a:pPr>
            <a:r>
              <a:rPr lang="fr-FR" sz="3200" b="1" i="0" dirty="0">
                <a:effectLst/>
                <a:latin typeface="PMingLiU-ExtB" panose="02020500000000000000" pitchFamily="18" charset="-120"/>
                <a:ea typeface="PMingLiU-ExtB" panose="02020500000000000000" pitchFamily="18" charset="-120"/>
              </a:rPr>
              <a:t>Créer un modèle d'apprentissage automatique pour la détection précoce des maladies cardiovasculaires chez les patients.</a:t>
            </a:r>
            <a:endParaRPr lang="en-GB" sz="3200" b="1" dirty="0">
              <a:latin typeface="PMingLiU-ExtB" panose="02020500000000000000" pitchFamily="18" charset="-120"/>
              <a:ea typeface="PMingLiU-ExtB" panose="02020500000000000000" pitchFamily="18" charset="-120"/>
            </a:endParaRPr>
          </a:p>
        </p:txBody>
      </p:sp>
    </p:spTree>
    <p:extLst>
      <p:ext uri="{BB962C8B-B14F-4D97-AF65-F5344CB8AC3E}">
        <p14:creationId xmlns:p14="http://schemas.microsoft.com/office/powerpoint/2010/main" val="2605387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8C418E-6035-407D-A8D5-2CAF35C41326}"/>
              </a:ext>
            </a:extLst>
          </p:cNvPr>
          <p:cNvSpPr txBox="1">
            <a:spLocks/>
          </p:cNvSpPr>
          <p:nvPr/>
        </p:nvSpPr>
        <p:spPr>
          <a:xfrm>
            <a:off x="2816442" y="1423186"/>
            <a:ext cx="6559115" cy="6627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6000" dirty="0">
                <a:solidFill>
                  <a:srgbClr val="FFFF00"/>
                </a:solidFill>
                <a:latin typeface="Colonna MT" panose="04020805060202030203" pitchFamily="82" charset="0"/>
              </a:rPr>
              <a:t>Introduction</a:t>
            </a:r>
            <a:endParaRPr lang="en-GB" sz="6000" dirty="0">
              <a:solidFill>
                <a:srgbClr val="FFFF00"/>
              </a:solidFill>
              <a:latin typeface="Colonna MT" panose="04020805060202030203" pitchFamily="82" charset="0"/>
            </a:endParaRPr>
          </a:p>
        </p:txBody>
      </p:sp>
      <p:sp>
        <p:nvSpPr>
          <p:cNvPr id="5" name="TextBox 4">
            <a:extLst>
              <a:ext uri="{FF2B5EF4-FFF2-40B4-BE49-F238E27FC236}">
                <a16:creationId xmlns:a16="http://schemas.microsoft.com/office/drawing/2014/main" id="{E43DC252-FECC-4072-B39F-CBBF49206A88}"/>
              </a:ext>
            </a:extLst>
          </p:cNvPr>
          <p:cNvSpPr txBox="1"/>
          <p:nvPr/>
        </p:nvSpPr>
        <p:spPr>
          <a:xfrm>
            <a:off x="1792984" y="2409248"/>
            <a:ext cx="8384345" cy="2554545"/>
          </a:xfrm>
          <a:prstGeom prst="rect">
            <a:avLst/>
          </a:prstGeom>
          <a:noFill/>
        </p:spPr>
        <p:txBody>
          <a:bodyPr wrap="square" rtlCol="0">
            <a:spAutoFit/>
          </a:bodyPr>
          <a:lstStyle/>
          <a:p>
            <a:pPr algn="ctr"/>
            <a:r>
              <a:rPr lang="fr-FR" sz="3200" b="1" dirty="0">
                <a:latin typeface="PMingLiU-ExtB" panose="02020500000000000000" pitchFamily="18" charset="-120"/>
                <a:ea typeface="PMingLiU-ExtB" panose="02020500000000000000" pitchFamily="18" charset="-120"/>
              </a:rPr>
              <a:t>Le réseau neuronal est classé comme un algorithme d'apprentissage supervisé qui implique la construction d'un modèle statistique pour prédire, ou estimer, une sortie basée sur une ou plusieurs entrées.</a:t>
            </a:r>
            <a:endParaRPr lang="en-GB" sz="3200" b="1" dirty="0">
              <a:latin typeface="PMingLiU-ExtB" panose="02020500000000000000" pitchFamily="18" charset="-120"/>
              <a:ea typeface="PMingLiU-ExtB" panose="02020500000000000000" pitchFamily="18" charset="-120"/>
            </a:endParaRPr>
          </a:p>
        </p:txBody>
      </p:sp>
    </p:spTree>
    <p:extLst>
      <p:ext uri="{BB962C8B-B14F-4D97-AF65-F5344CB8AC3E}">
        <p14:creationId xmlns:p14="http://schemas.microsoft.com/office/powerpoint/2010/main" val="367514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BBAA4F0-5575-4B27-BA6D-F0A4F36E9659}"/>
              </a:ext>
            </a:extLst>
          </p:cNvPr>
          <p:cNvSpPr/>
          <p:nvPr/>
        </p:nvSpPr>
        <p:spPr>
          <a:xfrm>
            <a:off x="2064328" y="2192115"/>
            <a:ext cx="457200" cy="4710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5" name="Oval 4">
            <a:extLst>
              <a:ext uri="{FF2B5EF4-FFF2-40B4-BE49-F238E27FC236}">
                <a16:creationId xmlns:a16="http://schemas.microsoft.com/office/drawing/2014/main" id="{DCAEAF6D-D872-49D3-A79B-3C005B954E2C}"/>
              </a:ext>
            </a:extLst>
          </p:cNvPr>
          <p:cNvSpPr/>
          <p:nvPr/>
        </p:nvSpPr>
        <p:spPr>
          <a:xfrm>
            <a:off x="2064328" y="2808641"/>
            <a:ext cx="457200" cy="4710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6" name="Oval 5">
            <a:extLst>
              <a:ext uri="{FF2B5EF4-FFF2-40B4-BE49-F238E27FC236}">
                <a16:creationId xmlns:a16="http://schemas.microsoft.com/office/drawing/2014/main" id="{A401F70C-C9A5-4E68-84C8-B0C2DEB75F01}"/>
              </a:ext>
            </a:extLst>
          </p:cNvPr>
          <p:cNvSpPr/>
          <p:nvPr/>
        </p:nvSpPr>
        <p:spPr>
          <a:xfrm>
            <a:off x="2064328" y="3452875"/>
            <a:ext cx="457200" cy="4710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7" name="Oval 6">
            <a:extLst>
              <a:ext uri="{FF2B5EF4-FFF2-40B4-BE49-F238E27FC236}">
                <a16:creationId xmlns:a16="http://schemas.microsoft.com/office/drawing/2014/main" id="{5EA4CC87-5B2D-4289-9FCB-B1603A2F9641}"/>
              </a:ext>
            </a:extLst>
          </p:cNvPr>
          <p:cNvSpPr/>
          <p:nvPr/>
        </p:nvSpPr>
        <p:spPr>
          <a:xfrm>
            <a:off x="2064327" y="4775990"/>
            <a:ext cx="457200" cy="4710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8" name="Oval 7">
            <a:extLst>
              <a:ext uri="{FF2B5EF4-FFF2-40B4-BE49-F238E27FC236}">
                <a16:creationId xmlns:a16="http://schemas.microsoft.com/office/drawing/2014/main" id="{F47B7F12-4FA5-441E-9225-983E03AA2D08}"/>
              </a:ext>
            </a:extLst>
          </p:cNvPr>
          <p:cNvSpPr/>
          <p:nvPr/>
        </p:nvSpPr>
        <p:spPr>
          <a:xfrm>
            <a:off x="5403274" y="3044168"/>
            <a:ext cx="1094509" cy="121920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4400" dirty="0">
                <a:latin typeface="Arabic Typesetting" panose="03020402040406030203" pitchFamily="66" charset="-78"/>
                <a:cs typeface="Arabic Typesetting" panose="03020402040406030203" pitchFamily="66" charset="-78"/>
              </a:rPr>
              <a:t>∑</a:t>
            </a:r>
          </a:p>
        </p:txBody>
      </p:sp>
      <p:cxnSp>
        <p:nvCxnSpPr>
          <p:cNvPr id="10" name="Straight Arrow Connector 9">
            <a:extLst>
              <a:ext uri="{FF2B5EF4-FFF2-40B4-BE49-F238E27FC236}">
                <a16:creationId xmlns:a16="http://schemas.microsoft.com/office/drawing/2014/main" id="{03020998-1756-45C5-AD5C-399C1A40F953}"/>
              </a:ext>
            </a:extLst>
          </p:cNvPr>
          <p:cNvCxnSpPr>
            <a:cxnSpLocks/>
            <a:endCxn id="8" idx="1"/>
          </p:cNvCxnSpPr>
          <p:nvPr/>
        </p:nvCxnSpPr>
        <p:spPr>
          <a:xfrm>
            <a:off x="2794676" y="2483061"/>
            <a:ext cx="2768885" cy="739655"/>
          </a:xfrm>
          <a:prstGeom prst="straightConnector1">
            <a:avLst/>
          </a:prstGeom>
          <a:ln w="38100">
            <a:solidFill>
              <a:schemeClr val="bg1"/>
            </a:solidFill>
            <a:tailEnd type="triangle"/>
          </a:ln>
        </p:spPr>
        <p:style>
          <a:lnRef idx="3">
            <a:schemeClr val="accent1"/>
          </a:lnRef>
          <a:fillRef idx="0">
            <a:schemeClr val="accent1"/>
          </a:fillRef>
          <a:effectRef idx="2">
            <a:schemeClr val="accent1"/>
          </a:effectRef>
          <a:fontRef idx="minor">
            <a:schemeClr val="tx1"/>
          </a:fontRef>
        </p:style>
      </p:cxnSp>
      <p:cxnSp>
        <p:nvCxnSpPr>
          <p:cNvPr id="16" name="Straight Connector 15">
            <a:extLst>
              <a:ext uri="{FF2B5EF4-FFF2-40B4-BE49-F238E27FC236}">
                <a16:creationId xmlns:a16="http://schemas.microsoft.com/office/drawing/2014/main" id="{19B9A61E-CAE4-4F8B-9351-19774E837C26}"/>
              </a:ext>
            </a:extLst>
          </p:cNvPr>
          <p:cNvCxnSpPr/>
          <p:nvPr/>
        </p:nvCxnSpPr>
        <p:spPr>
          <a:xfrm>
            <a:off x="2286001" y="4090188"/>
            <a:ext cx="0" cy="540327"/>
          </a:xfrm>
          <a:prstGeom prst="line">
            <a:avLst/>
          </a:prstGeom>
          <a:ln w="41275">
            <a:prstDash val="sysDot"/>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60C087-B343-41F4-8022-795F18E63EA0}"/>
              </a:ext>
            </a:extLst>
          </p:cNvPr>
          <p:cNvCxnSpPr/>
          <p:nvPr/>
        </p:nvCxnSpPr>
        <p:spPr>
          <a:xfrm>
            <a:off x="2770910" y="3044168"/>
            <a:ext cx="2632364" cy="408707"/>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4F32F86-FED8-4743-99F1-51FD11700F71}"/>
              </a:ext>
            </a:extLst>
          </p:cNvPr>
          <p:cNvCxnSpPr>
            <a:endCxn id="8" idx="3"/>
          </p:cNvCxnSpPr>
          <p:nvPr/>
        </p:nvCxnSpPr>
        <p:spPr>
          <a:xfrm flipV="1">
            <a:off x="2770910" y="4084822"/>
            <a:ext cx="2792651" cy="96133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0053BED-D050-4E68-A5DA-5AA64A78132C}"/>
              </a:ext>
            </a:extLst>
          </p:cNvPr>
          <p:cNvCxnSpPr/>
          <p:nvPr/>
        </p:nvCxnSpPr>
        <p:spPr>
          <a:xfrm>
            <a:off x="2770910" y="3688406"/>
            <a:ext cx="2632363" cy="138544"/>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58D1349-9623-4ACD-A464-E399C0C9E964}"/>
              </a:ext>
            </a:extLst>
          </p:cNvPr>
          <p:cNvSpPr txBox="1"/>
          <p:nvPr/>
        </p:nvSpPr>
        <p:spPr>
          <a:xfrm>
            <a:off x="4943090" y="4288995"/>
            <a:ext cx="2175164" cy="1015663"/>
          </a:xfrm>
          <a:prstGeom prst="rect">
            <a:avLst/>
          </a:prstGeom>
          <a:noFill/>
        </p:spPr>
        <p:txBody>
          <a:bodyPr wrap="square" rtlCol="0">
            <a:spAutoFit/>
          </a:bodyPr>
          <a:lstStyle/>
          <a:p>
            <a:pPr algn="ctr"/>
            <a:r>
              <a:rPr lang="en-GB" dirty="0">
                <a:latin typeface="Baskerville Old Face" panose="02020602080505020303" pitchFamily="18" charset="0"/>
              </a:rPr>
              <a:t>Fonction de summation</a:t>
            </a:r>
          </a:p>
          <a:p>
            <a:pPr algn="ctr"/>
            <a:r>
              <a:rPr lang="en-GB" sz="2400" dirty="0">
                <a:latin typeface="Arabic Typesetting" panose="03020402040406030203" pitchFamily="66" charset="-78"/>
                <a:cs typeface="Arabic Typesetting" panose="03020402040406030203" pitchFamily="66" charset="-78"/>
              </a:rPr>
              <a:t>∑ W</a:t>
            </a:r>
            <a:r>
              <a:rPr lang="en-GB" sz="1400" dirty="0">
                <a:latin typeface="Arabic Typesetting" panose="03020402040406030203" pitchFamily="66" charset="-78"/>
                <a:cs typeface="Arabic Typesetting" panose="03020402040406030203" pitchFamily="66" charset="-78"/>
              </a:rPr>
              <a:t>i</a:t>
            </a:r>
            <a:r>
              <a:rPr lang="en-GB" sz="2400" dirty="0">
                <a:latin typeface="Arabic Typesetting" panose="03020402040406030203" pitchFamily="66" charset="-78"/>
                <a:cs typeface="Arabic Typesetting" panose="03020402040406030203" pitchFamily="66" charset="-78"/>
              </a:rPr>
              <a:t> X</a:t>
            </a:r>
            <a:r>
              <a:rPr lang="en-GB" sz="1400" dirty="0">
                <a:latin typeface="Arabic Typesetting" panose="03020402040406030203" pitchFamily="66" charset="-78"/>
                <a:cs typeface="Arabic Typesetting" panose="03020402040406030203" pitchFamily="66" charset="-78"/>
              </a:rPr>
              <a:t>i</a:t>
            </a:r>
          </a:p>
        </p:txBody>
      </p:sp>
      <p:sp>
        <p:nvSpPr>
          <p:cNvPr id="24" name="TextBox 23">
            <a:extLst>
              <a:ext uri="{FF2B5EF4-FFF2-40B4-BE49-F238E27FC236}">
                <a16:creationId xmlns:a16="http://schemas.microsoft.com/office/drawing/2014/main" id="{813AA66A-5E28-443E-B998-CC0123588DE1}"/>
              </a:ext>
            </a:extLst>
          </p:cNvPr>
          <p:cNvSpPr txBox="1"/>
          <p:nvPr/>
        </p:nvSpPr>
        <p:spPr>
          <a:xfrm>
            <a:off x="5652656" y="2483061"/>
            <a:ext cx="651163" cy="584775"/>
          </a:xfrm>
          <a:prstGeom prst="rect">
            <a:avLst/>
          </a:prstGeom>
          <a:noFill/>
        </p:spPr>
        <p:txBody>
          <a:bodyPr wrap="square" rtlCol="0">
            <a:spAutoFit/>
          </a:bodyPr>
          <a:lstStyle/>
          <a:p>
            <a:pPr algn="ctr"/>
            <a:r>
              <a:rPr lang="fr-FR" sz="3200" dirty="0"/>
              <a:t> +</a:t>
            </a:r>
            <a:endParaRPr lang="en-GB" sz="3200" dirty="0"/>
          </a:p>
        </p:txBody>
      </p:sp>
      <p:sp>
        <p:nvSpPr>
          <p:cNvPr id="25" name="TextBox 24">
            <a:extLst>
              <a:ext uri="{FF2B5EF4-FFF2-40B4-BE49-F238E27FC236}">
                <a16:creationId xmlns:a16="http://schemas.microsoft.com/office/drawing/2014/main" id="{06C1E1E8-ED5C-4434-A724-D6B4714A8779}"/>
              </a:ext>
            </a:extLst>
          </p:cNvPr>
          <p:cNvSpPr txBox="1"/>
          <p:nvPr/>
        </p:nvSpPr>
        <p:spPr>
          <a:xfrm>
            <a:off x="5749637" y="1944451"/>
            <a:ext cx="457200" cy="830997"/>
          </a:xfrm>
          <a:prstGeom prst="rect">
            <a:avLst/>
          </a:prstGeom>
          <a:noFill/>
        </p:spPr>
        <p:txBody>
          <a:bodyPr wrap="square" rtlCol="0">
            <a:spAutoFit/>
          </a:bodyPr>
          <a:lstStyle/>
          <a:p>
            <a:pPr algn="ctr"/>
            <a:r>
              <a:rPr lang="fr-FR" sz="4800" dirty="0">
                <a:latin typeface="Arabic Typesetting" panose="03020402040406030203" pitchFamily="66" charset="-78"/>
                <a:cs typeface="Arabic Typesetting" panose="03020402040406030203" pitchFamily="66" charset="-78"/>
              </a:rPr>
              <a:t>b</a:t>
            </a:r>
            <a:endParaRPr lang="en-GB" sz="4800" dirty="0">
              <a:latin typeface="Arabic Typesetting" panose="03020402040406030203" pitchFamily="66" charset="-78"/>
              <a:cs typeface="Arabic Typesetting" panose="03020402040406030203" pitchFamily="66" charset="-78"/>
            </a:endParaRPr>
          </a:p>
        </p:txBody>
      </p:sp>
      <p:sp>
        <p:nvSpPr>
          <p:cNvPr id="27" name="TextBox 26">
            <a:extLst>
              <a:ext uri="{FF2B5EF4-FFF2-40B4-BE49-F238E27FC236}">
                <a16:creationId xmlns:a16="http://schemas.microsoft.com/office/drawing/2014/main" id="{224025DB-8CD8-40CD-9593-8F348F5B2750}"/>
              </a:ext>
            </a:extLst>
          </p:cNvPr>
          <p:cNvSpPr txBox="1"/>
          <p:nvPr/>
        </p:nvSpPr>
        <p:spPr>
          <a:xfrm>
            <a:off x="1364675" y="2848037"/>
            <a:ext cx="457199" cy="461665"/>
          </a:xfrm>
          <a:prstGeom prst="rect">
            <a:avLst/>
          </a:prstGeom>
          <a:noFill/>
        </p:spPr>
        <p:txBody>
          <a:bodyPr wrap="square" rtlCol="0">
            <a:spAutoFit/>
          </a:bodyPr>
          <a:lstStyle/>
          <a:p>
            <a:pPr algn="ctr"/>
            <a:r>
              <a:rPr lang="fr-FR" sz="2400" b="1" dirty="0">
                <a:latin typeface="Arabic Typesetting" panose="03020402040406030203" pitchFamily="66" charset="-78"/>
                <a:cs typeface="Arabic Typesetting" panose="03020402040406030203" pitchFamily="66" charset="-78"/>
              </a:rPr>
              <a:t>X2</a:t>
            </a:r>
            <a:endParaRPr lang="en-GB" sz="2400" b="1" dirty="0">
              <a:latin typeface="Arabic Typesetting" panose="03020402040406030203" pitchFamily="66" charset="-78"/>
              <a:cs typeface="Arabic Typesetting" panose="03020402040406030203" pitchFamily="66" charset="-78"/>
            </a:endParaRPr>
          </a:p>
        </p:txBody>
      </p:sp>
      <p:sp>
        <p:nvSpPr>
          <p:cNvPr id="28" name="TextBox 27">
            <a:extLst>
              <a:ext uri="{FF2B5EF4-FFF2-40B4-BE49-F238E27FC236}">
                <a16:creationId xmlns:a16="http://schemas.microsoft.com/office/drawing/2014/main" id="{D1D3348B-11DC-47BC-8119-E46B7EFF3F94}"/>
              </a:ext>
            </a:extLst>
          </p:cNvPr>
          <p:cNvSpPr txBox="1"/>
          <p:nvPr/>
        </p:nvSpPr>
        <p:spPr>
          <a:xfrm>
            <a:off x="1378529" y="3554598"/>
            <a:ext cx="457199" cy="461665"/>
          </a:xfrm>
          <a:prstGeom prst="rect">
            <a:avLst/>
          </a:prstGeom>
          <a:noFill/>
        </p:spPr>
        <p:txBody>
          <a:bodyPr wrap="square" rtlCol="0">
            <a:spAutoFit/>
          </a:bodyPr>
          <a:lstStyle/>
          <a:p>
            <a:pPr algn="ctr"/>
            <a:r>
              <a:rPr lang="fr-FR" sz="2400" b="1" dirty="0">
                <a:latin typeface="Arabic Typesetting" panose="03020402040406030203" pitchFamily="66" charset="-78"/>
                <a:cs typeface="Arabic Typesetting" panose="03020402040406030203" pitchFamily="66" charset="-78"/>
              </a:rPr>
              <a:t>X3</a:t>
            </a:r>
            <a:endParaRPr lang="en-GB" sz="2400" b="1" dirty="0">
              <a:latin typeface="Arabic Typesetting" panose="03020402040406030203" pitchFamily="66" charset="-78"/>
              <a:cs typeface="Arabic Typesetting" panose="03020402040406030203" pitchFamily="66" charset="-78"/>
            </a:endParaRPr>
          </a:p>
        </p:txBody>
      </p:sp>
      <p:sp>
        <p:nvSpPr>
          <p:cNvPr id="29" name="TextBox 28">
            <a:extLst>
              <a:ext uri="{FF2B5EF4-FFF2-40B4-BE49-F238E27FC236}">
                <a16:creationId xmlns:a16="http://schemas.microsoft.com/office/drawing/2014/main" id="{34BC84B3-965A-4BA2-BD8D-0BE904404C91}"/>
              </a:ext>
            </a:extLst>
          </p:cNvPr>
          <p:cNvSpPr txBox="1"/>
          <p:nvPr/>
        </p:nvSpPr>
        <p:spPr>
          <a:xfrm>
            <a:off x="1388441" y="2201505"/>
            <a:ext cx="457199" cy="461665"/>
          </a:xfrm>
          <a:prstGeom prst="rect">
            <a:avLst/>
          </a:prstGeom>
          <a:noFill/>
        </p:spPr>
        <p:txBody>
          <a:bodyPr wrap="square" rtlCol="0">
            <a:spAutoFit/>
          </a:bodyPr>
          <a:lstStyle/>
          <a:p>
            <a:pPr algn="ctr"/>
            <a:r>
              <a:rPr lang="fr-FR" sz="2400" b="1" dirty="0">
                <a:latin typeface="Arabic Typesetting" panose="03020402040406030203" pitchFamily="66" charset="-78"/>
                <a:cs typeface="Arabic Typesetting" panose="03020402040406030203" pitchFamily="66" charset="-78"/>
              </a:rPr>
              <a:t>X1</a:t>
            </a:r>
            <a:endParaRPr lang="en-GB" sz="2400" b="1" dirty="0">
              <a:latin typeface="Arabic Typesetting" panose="03020402040406030203" pitchFamily="66" charset="-78"/>
              <a:cs typeface="Arabic Typesetting" panose="03020402040406030203" pitchFamily="66" charset="-78"/>
            </a:endParaRPr>
          </a:p>
        </p:txBody>
      </p:sp>
      <p:sp>
        <p:nvSpPr>
          <p:cNvPr id="30" name="TextBox 29">
            <a:extLst>
              <a:ext uri="{FF2B5EF4-FFF2-40B4-BE49-F238E27FC236}">
                <a16:creationId xmlns:a16="http://schemas.microsoft.com/office/drawing/2014/main" id="{E2F1932E-594A-4628-87B3-E45654626577}"/>
              </a:ext>
            </a:extLst>
          </p:cNvPr>
          <p:cNvSpPr txBox="1"/>
          <p:nvPr/>
        </p:nvSpPr>
        <p:spPr>
          <a:xfrm>
            <a:off x="1388441" y="4828721"/>
            <a:ext cx="457199" cy="461665"/>
          </a:xfrm>
          <a:prstGeom prst="rect">
            <a:avLst/>
          </a:prstGeom>
          <a:noFill/>
        </p:spPr>
        <p:txBody>
          <a:bodyPr wrap="square" rtlCol="0">
            <a:spAutoFit/>
          </a:bodyPr>
          <a:lstStyle/>
          <a:p>
            <a:pPr algn="ctr"/>
            <a:r>
              <a:rPr lang="fr-FR" sz="2400" b="1" dirty="0">
                <a:latin typeface="Arabic Typesetting" panose="03020402040406030203" pitchFamily="66" charset="-78"/>
                <a:cs typeface="Arabic Typesetting" panose="03020402040406030203" pitchFamily="66" charset="-78"/>
              </a:rPr>
              <a:t>Xn</a:t>
            </a:r>
            <a:endParaRPr lang="en-GB" sz="2400" b="1" dirty="0">
              <a:latin typeface="Arabic Typesetting" panose="03020402040406030203" pitchFamily="66" charset="-78"/>
              <a:cs typeface="Arabic Typesetting" panose="03020402040406030203" pitchFamily="66" charset="-78"/>
            </a:endParaRPr>
          </a:p>
        </p:txBody>
      </p:sp>
      <p:cxnSp>
        <p:nvCxnSpPr>
          <p:cNvPr id="33" name="Straight Arrow Connector 32">
            <a:extLst>
              <a:ext uri="{FF2B5EF4-FFF2-40B4-BE49-F238E27FC236}">
                <a16:creationId xmlns:a16="http://schemas.microsoft.com/office/drawing/2014/main" id="{F7159104-68BC-45D4-868F-80D7C314E43A}"/>
              </a:ext>
            </a:extLst>
          </p:cNvPr>
          <p:cNvCxnSpPr/>
          <p:nvPr/>
        </p:nvCxnSpPr>
        <p:spPr>
          <a:xfrm>
            <a:off x="6705601" y="3653769"/>
            <a:ext cx="1039091"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E35754A-5BC1-4973-8351-1C2C0ACF335C}"/>
              </a:ext>
            </a:extLst>
          </p:cNvPr>
          <p:cNvSpPr/>
          <p:nvPr/>
        </p:nvSpPr>
        <p:spPr>
          <a:xfrm>
            <a:off x="7744692" y="3044168"/>
            <a:ext cx="1385455" cy="121920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a:p>
        </p:txBody>
      </p:sp>
      <p:sp>
        <p:nvSpPr>
          <p:cNvPr id="36" name="Freeform: Shape 35">
            <a:extLst>
              <a:ext uri="{FF2B5EF4-FFF2-40B4-BE49-F238E27FC236}">
                <a16:creationId xmlns:a16="http://schemas.microsoft.com/office/drawing/2014/main" id="{CABE09B4-46C8-422D-84D0-1D4503A356EB}"/>
              </a:ext>
            </a:extLst>
          </p:cNvPr>
          <p:cNvSpPr/>
          <p:nvPr/>
        </p:nvSpPr>
        <p:spPr>
          <a:xfrm>
            <a:off x="7897092" y="3342043"/>
            <a:ext cx="1025236" cy="609600"/>
          </a:xfrm>
          <a:custGeom>
            <a:avLst/>
            <a:gdLst>
              <a:gd name="connsiteX0" fmla="*/ 0 w 1025236"/>
              <a:gd name="connsiteY0" fmla="*/ 609600 h 609600"/>
              <a:gd name="connsiteX1" fmla="*/ 415636 w 1025236"/>
              <a:gd name="connsiteY1" fmla="*/ 484909 h 609600"/>
              <a:gd name="connsiteX2" fmla="*/ 554182 w 1025236"/>
              <a:gd name="connsiteY2" fmla="*/ 152400 h 609600"/>
              <a:gd name="connsiteX3" fmla="*/ 1025236 w 1025236"/>
              <a:gd name="connsiteY3" fmla="*/ 0 h 609600"/>
            </a:gdLst>
            <a:ahLst/>
            <a:cxnLst>
              <a:cxn ang="0">
                <a:pos x="connsiteX0" y="connsiteY0"/>
              </a:cxn>
              <a:cxn ang="0">
                <a:pos x="connsiteX1" y="connsiteY1"/>
              </a:cxn>
              <a:cxn ang="0">
                <a:pos x="connsiteX2" y="connsiteY2"/>
              </a:cxn>
              <a:cxn ang="0">
                <a:pos x="connsiteX3" y="connsiteY3"/>
              </a:cxn>
            </a:cxnLst>
            <a:rect l="l" t="t" r="r" b="b"/>
            <a:pathLst>
              <a:path w="1025236" h="609600">
                <a:moveTo>
                  <a:pt x="0" y="609600"/>
                </a:moveTo>
                <a:cubicBezTo>
                  <a:pt x="161636" y="585354"/>
                  <a:pt x="323272" y="561109"/>
                  <a:pt x="415636" y="484909"/>
                </a:cubicBezTo>
                <a:cubicBezTo>
                  <a:pt x="508000" y="408709"/>
                  <a:pt x="452582" y="233218"/>
                  <a:pt x="554182" y="152400"/>
                </a:cubicBezTo>
                <a:cubicBezTo>
                  <a:pt x="655782" y="71582"/>
                  <a:pt x="840509" y="35791"/>
                  <a:pt x="1025236" y="0"/>
                </a:cubicBez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en-GB"/>
          </a:p>
        </p:txBody>
      </p:sp>
      <p:sp>
        <p:nvSpPr>
          <p:cNvPr id="37" name="TextBox 36">
            <a:extLst>
              <a:ext uri="{FF2B5EF4-FFF2-40B4-BE49-F238E27FC236}">
                <a16:creationId xmlns:a16="http://schemas.microsoft.com/office/drawing/2014/main" id="{4FC8F3D3-A805-4C9C-83B1-2844601CB5CC}"/>
              </a:ext>
            </a:extLst>
          </p:cNvPr>
          <p:cNvSpPr txBox="1"/>
          <p:nvPr/>
        </p:nvSpPr>
        <p:spPr>
          <a:xfrm>
            <a:off x="7744692" y="2285348"/>
            <a:ext cx="1385455" cy="707886"/>
          </a:xfrm>
          <a:prstGeom prst="rect">
            <a:avLst/>
          </a:prstGeom>
          <a:noFill/>
        </p:spPr>
        <p:txBody>
          <a:bodyPr wrap="square" rtlCol="0">
            <a:spAutoFit/>
          </a:bodyPr>
          <a:lstStyle/>
          <a:p>
            <a:pPr algn="ctr"/>
            <a:r>
              <a:rPr lang="fr-FR" sz="2000" dirty="0">
                <a:latin typeface="Baskerville Old Face" panose="02020602080505020303" pitchFamily="18" charset="0"/>
              </a:rPr>
              <a:t>Fonction d’activation</a:t>
            </a:r>
            <a:endParaRPr lang="en-GB" sz="2000" dirty="0">
              <a:latin typeface="Baskerville Old Face" panose="02020602080505020303" pitchFamily="18" charset="0"/>
            </a:endParaRPr>
          </a:p>
        </p:txBody>
      </p:sp>
      <p:cxnSp>
        <p:nvCxnSpPr>
          <p:cNvPr id="39" name="Straight Arrow Connector 38">
            <a:extLst>
              <a:ext uri="{FF2B5EF4-FFF2-40B4-BE49-F238E27FC236}">
                <a16:creationId xmlns:a16="http://schemas.microsoft.com/office/drawing/2014/main" id="{82925130-27AB-4B09-B126-521F79BCB566}"/>
              </a:ext>
            </a:extLst>
          </p:cNvPr>
          <p:cNvCxnSpPr/>
          <p:nvPr/>
        </p:nvCxnSpPr>
        <p:spPr>
          <a:xfrm>
            <a:off x="9268692" y="3653769"/>
            <a:ext cx="858982"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AE3C8271-632C-4B9B-B7DF-C71EAF7CF00F}"/>
              </a:ext>
            </a:extLst>
          </p:cNvPr>
          <p:cNvSpPr/>
          <p:nvPr/>
        </p:nvSpPr>
        <p:spPr>
          <a:xfrm>
            <a:off x="10224656" y="3418240"/>
            <a:ext cx="457200" cy="4710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41" name="TextBox 40">
            <a:extLst>
              <a:ext uri="{FF2B5EF4-FFF2-40B4-BE49-F238E27FC236}">
                <a16:creationId xmlns:a16="http://schemas.microsoft.com/office/drawing/2014/main" id="{3257A0B6-A22E-495D-9B7F-90A822617358}"/>
              </a:ext>
            </a:extLst>
          </p:cNvPr>
          <p:cNvSpPr txBox="1"/>
          <p:nvPr/>
        </p:nvSpPr>
        <p:spPr>
          <a:xfrm>
            <a:off x="9961419" y="4016263"/>
            <a:ext cx="1094509" cy="461665"/>
          </a:xfrm>
          <a:prstGeom prst="rect">
            <a:avLst/>
          </a:prstGeom>
          <a:noFill/>
        </p:spPr>
        <p:txBody>
          <a:bodyPr wrap="square" rtlCol="0">
            <a:spAutoFit/>
          </a:bodyPr>
          <a:lstStyle/>
          <a:p>
            <a:pPr algn="ctr"/>
            <a:r>
              <a:rPr lang="fr-FR" sz="2400" dirty="0">
                <a:latin typeface="Baskerville Old Face" panose="02020602080505020303" pitchFamily="18" charset="0"/>
              </a:rPr>
              <a:t>Output</a:t>
            </a:r>
            <a:endParaRPr lang="en-GB" sz="2400" dirty="0">
              <a:latin typeface="Baskerville Old Face" panose="02020602080505020303" pitchFamily="18" charset="0"/>
            </a:endParaRPr>
          </a:p>
        </p:txBody>
      </p:sp>
      <p:sp>
        <p:nvSpPr>
          <p:cNvPr id="42" name="TextBox 41">
            <a:extLst>
              <a:ext uri="{FF2B5EF4-FFF2-40B4-BE49-F238E27FC236}">
                <a16:creationId xmlns:a16="http://schemas.microsoft.com/office/drawing/2014/main" id="{D617E48E-C1D1-458D-89C4-4A2A115640F6}"/>
              </a:ext>
            </a:extLst>
          </p:cNvPr>
          <p:cNvSpPr txBox="1"/>
          <p:nvPr/>
        </p:nvSpPr>
        <p:spPr>
          <a:xfrm>
            <a:off x="5202382" y="1718227"/>
            <a:ext cx="1496291" cy="461665"/>
          </a:xfrm>
          <a:prstGeom prst="rect">
            <a:avLst/>
          </a:prstGeom>
          <a:noFill/>
        </p:spPr>
        <p:txBody>
          <a:bodyPr wrap="square" rtlCol="0">
            <a:spAutoFit/>
          </a:bodyPr>
          <a:lstStyle/>
          <a:p>
            <a:pPr algn="ctr"/>
            <a:r>
              <a:rPr lang="fr-FR" sz="2400" dirty="0">
                <a:solidFill>
                  <a:srgbClr val="FF0000"/>
                </a:solidFill>
                <a:latin typeface="Baskerville Old Face" panose="02020602080505020303" pitchFamily="18" charset="0"/>
              </a:rPr>
              <a:t>Biais</a:t>
            </a:r>
            <a:endParaRPr lang="en-GB" sz="2400" dirty="0">
              <a:solidFill>
                <a:srgbClr val="FF0000"/>
              </a:solidFill>
              <a:latin typeface="Baskerville Old Face" panose="02020602080505020303" pitchFamily="18" charset="0"/>
            </a:endParaRPr>
          </a:p>
        </p:txBody>
      </p:sp>
      <p:sp>
        <p:nvSpPr>
          <p:cNvPr id="43" name="TextBox 42">
            <a:extLst>
              <a:ext uri="{FF2B5EF4-FFF2-40B4-BE49-F238E27FC236}">
                <a16:creationId xmlns:a16="http://schemas.microsoft.com/office/drawing/2014/main" id="{2C7B0917-7D09-4B6D-9C37-39EB2C89428A}"/>
              </a:ext>
            </a:extLst>
          </p:cNvPr>
          <p:cNvSpPr txBox="1"/>
          <p:nvPr/>
        </p:nvSpPr>
        <p:spPr>
          <a:xfrm>
            <a:off x="3425537" y="2355587"/>
            <a:ext cx="533399" cy="461665"/>
          </a:xfrm>
          <a:prstGeom prst="rect">
            <a:avLst/>
          </a:prstGeom>
          <a:noFill/>
        </p:spPr>
        <p:txBody>
          <a:bodyPr wrap="square" rtlCol="0">
            <a:spAutoFit/>
          </a:bodyPr>
          <a:lstStyle/>
          <a:p>
            <a:pPr algn="ctr"/>
            <a:r>
              <a:rPr lang="fr-FR" sz="2400" b="1" dirty="0">
                <a:latin typeface="Arabic Typesetting" panose="03020402040406030203" pitchFamily="66" charset="-78"/>
                <a:cs typeface="Arabic Typesetting" panose="03020402040406030203" pitchFamily="66" charset="-78"/>
              </a:rPr>
              <a:t>W1</a:t>
            </a:r>
            <a:endParaRPr lang="en-GB" sz="2400" b="1" dirty="0">
              <a:latin typeface="Arabic Typesetting" panose="03020402040406030203" pitchFamily="66" charset="-78"/>
              <a:cs typeface="Arabic Typesetting" panose="03020402040406030203" pitchFamily="66" charset="-78"/>
            </a:endParaRPr>
          </a:p>
        </p:txBody>
      </p:sp>
      <p:sp>
        <p:nvSpPr>
          <p:cNvPr id="44" name="TextBox 43">
            <a:extLst>
              <a:ext uri="{FF2B5EF4-FFF2-40B4-BE49-F238E27FC236}">
                <a16:creationId xmlns:a16="http://schemas.microsoft.com/office/drawing/2014/main" id="{81F4338E-7DF6-4DA9-99A9-0E58DEBBC15E}"/>
              </a:ext>
            </a:extLst>
          </p:cNvPr>
          <p:cNvSpPr txBox="1"/>
          <p:nvPr/>
        </p:nvSpPr>
        <p:spPr>
          <a:xfrm>
            <a:off x="3425537" y="2866973"/>
            <a:ext cx="533399" cy="461665"/>
          </a:xfrm>
          <a:prstGeom prst="rect">
            <a:avLst/>
          </a:prstGeom>
          <a:noFill/>
        </p:spPr>
        <p:txBody>
          <a:bodyPr wrap="square" rtlCol="0">
            <a:spAutoFit/>
          </a:bodyPr>
          <a:lstStyle/>
          <a:p>
            <a:pPr algn="ctr"/>
            <a:r>
              <a:rPr lang="fr-FR" sz="2400" b="1" dirty="0">
                <a:latin typeface="Arabic Typesetting" panose="03020402040406030203" pitchFamily="66" charset="-78"/>
                <a:cs typeface="Arabic Typesetting" panose="03020402040406030203" pitchFamily="66" charset="-78"/>
              </a:rPr>
              <a:t>W2</a:t>
            </a:r>
            <a:endParaRPr lang="en-GB" sz="2400" b="1" dirty="0">
              <a:latin typeface="Arabic Typesetting" panose="03020402040406030203" pitchFamily="66" charset="-78"/>
              <a:cs typeface="Arabic Typesetting" panose="03020402040406030203" pitchFamily="66" charset="-78"/>
            </a:endParaRPr>
          </a:p>
        </p:txBody>
      </p:sp>
      <p:sp>
        <p:nvSpPr>
          <p:cNvPr id="45" name="TextBox 44">
            <a:extLst>
              <a:ext uri="{FF2B5EF4-FFF2-40B4-BE49-F238E27FC236}">
                <a16:creationId xmlns:a16="http://schemas.microsoft.com/office/drawing/2014/main" id="{A6C2148F-1C63-42CC-A574-F97448B0B0ED}"/>
              </a:ext>
            </a:extLst>
          </p:cNvPr>
          <p:cNvSpPr txBox="1"/>
          <p:nvPr/>
        </p:nvSpPr>
        <p:spPr>
          <a:xfrm>
            <a:off x="3425538" y="3460700"/>
            <a:ext cx="533399" cy="461665"/>
          </a:xfrm>
          <a:prstGeom prst="rect">
            <a:avLst/>
          </a:prstGeom>
          <a:noFill/>
        </p:spPr>
        <p:txBody>
          <a:bodyPr wrap="square" rtlCol="0">
            <a:spAutoFit/>
          </a:bodyPr>
          <a:lstStyle/>
          <a:p>
            <a:pPr algn="ctr"/>
            <a:r>
              <a:rPr lang="fr-FR" sz="2400" b="1" dirty="0">
                <a:latin typeface="Arabic Typesetting" panose="03020402040406030203" pitchFamily="66" charset="-78"/>
                <a:cs typeface="Arabic Typesetting" panose="03020402040406030203" pitchFamily="66" charset="-78"/>
              </a:rPr>
              <a:t>W3</a:t>
            </a:r>
            <a:endParaRPr lang="en-GB" sz="2400" b="1" dirty="0">
              <a:latin typeface="Arabic Typesetting" panose="03020402040406030203" pitchFamily="66" charset="-78"/>
              <a:cs typeface="Arabic Typesetting" panose="03020402040406030203" pitchFamily="66" charset="-78"/>
            </a:endParaRPr>
          </a:p>
        </p:txBody>
      </p:sp>
      <p:sp>
        <p:nvSpPr>
          <p:cNvPr id="46" name="TextBox 45">
            <a:extLst>
              <a:ext uri="{FF2B5EF4-FFF2-40B4-BE49-F238E27FC236}">
                <a16:creationId xmlns:a16="http://schemas.microsoft.com/office/drawing/2014/main" id="{9E5514A0-8B0E-4F0D-B3CD-369F4C97E1D5}"/>
              </a:ext>
            </a:extLst>
          </p:cNvPr>
          <p:cNvSpPr txBox="1"/>
          <p:nvPr/>
        </p:nvSpPr>
        <p:spPr>
          <a:xfrm>
            <a:off x="3425538" y="4360351"/>
            <a:ext cx="533399" cy="461665"/>
          </a:xfrm>
          <a:prstGeom prst="rect">
            <a:avLst/>
          </a:prstGeom>
          <a:noFill/>
        </p:spPr>
        <p:txBody>
          <a:bodyPr wrap="square" rtlCol="0">
            <a:spAutoFit/>
          </a:bodyPr>
          <a:lstStyle/>
          <a:p>
            <a:pPr algn="ctr"/>
            <a:r>
              <a:rPr lang="fr-FR" sz="2400" b="1" dirty="0">
                <a:latin typeface="Arabic Typesetting" panose="03020402040406030203" pitchFamily="66" charset="-78"/>
                <a:cs typeface="Arabic Typesetting" panose="03020402040406030203" pitchFamily="66" charset="-78"/>
              </a:rPr>
              <a:t>Wn</a:t>
            </a:r>
            <a:endParaRPr lang="en-GB" sz="2400" b="1" dirty="0">
              <a:latin typeface="Arabic Typesetting" panose="03020402040406030203" pitchFamily="66" charset="-78"/>
              <a:cs typeface="Arabic Typesetting" panose="03020402040406030203" pitchFamily="66" charset="-78"/>
            </a:endParaRPr>
          </a:p>
        </p:txBody>
      </p:sp>
      <p:sp>
        <p:nvSpPr>
          <p:cNvPr id="47" name="TextBox 46">
            <a:extLst>
              <a:ext uri="{FF2B5EF4-FFF2-40B4-BE49-F238E27FC236}">
                <a16:creationId xmlns:a16="http://schemas.microsoft.com/office/drawing/2014/main" id="{077C428A-250F-4388-A80F-1A6C832227FF}"/>
              </a:ext>
            </a:extLst>
          </p:cNvPr>
          <p:cNvSpPr txBox="1"/>
          <p:nvPr/>
        </p:nvSpPr>
        <p:spPr>
          <a:xfrm>
            <a:off x="3041074" y="1904203"/>
            <a:ext cx="1125682" cy="461665"/>
          </a:xfrm>
          <a:prstGeom prst="rect">
            <a:avLst/>
          </a:prstGeom>
          <a:noFill/>
        </p:spPr>
        <p:txBody>
          <a:bodyPr wrap="square" rtlCol="0">
            <a:spAutoFit/>
          </a:bodyPr>
          <a:lstStyle/>
          <a:p>
            <a:pPr algn="ctr"/>
            <a:r>
              <a:rPr lang="fr-FR" sz="2400" dirty="0">
                <a:solidFill>
                  <a:srgbClr val="0070C0"/>
                </a:solidFill>
                <a:latin typeface="Baskerville Old Face" panose="02020602080505020303" pitchFamily="18" charset="0"/>
              </a:rPr>
              <a:t>  </a:t>
            </a:r>
            <a:r>
              <a:rPr lang="fr-FR" sz="2400" dirty="0">
                <a:solidFill>
                  <a:srgbClr val="FF0000"/>
                </a:solidFill>
                <a:latin typeface="Baskerville Old Face" panose="02020602080505020303" pitchFamily="18" charset="0"/>
              </a:rPr>
              <a:t>Poids</a:t>
            </a:r>
            <a:endParaRPr lang="en-GB" sz="2400" dirty="0">
              <a:solidFill>
                <a:srgbClr val="FF0000"/>
              </a:solidFill>
              <a:latin typeface="Baskerville Old Face" panose="02020602080505020303" pitchFamily="18" charset="0"/>
            </a:endParaRPr>
          </a:p>
        </p:txBody>
      </p:sp>
      <p:sp>
        <p:nvSpPr>
          <p:cNvPr id="2" name="Arrow: Chevron 1">
            <a:extLst>
              <a:ext uri="{FF2B5EF4-FFF2-40B4-BE49-F238E27FC236}">
                <a16:creationId xmlns:a16="http://schemas.microsoft.com/office/drawing/2014/main" id="{3156055E-AE50-4253-8383-B9D728543DDD}"/>
              </a:ext>
            </a:extLst>
          </p:cNvPr>
          <p:cNvSpPr/>
          <p:nvPr/>
        </p:nvSpPr>
        <p:spPr>
          <a:xfrm>
            <a:off x="2001981" y="457934"/>
            <a:ext cx="2410691" cy="1198075"/>
          </a:xfrm>
          <a:prstGeom prst="chevron">
            <a:avLst/>
          </a:prstGeom>
          <a:solidFill>
            <a:schemeClr val="tx1">
              <a:lumMod val="65000"/>
              <a:lumOff val="3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Bahnschrift Light Condensed" panose="020B0502040204020203" pitchFamily="34" charset="0"/>
              </a:rPr>
              <a:t>Ajouter une couche d'entrée</a:t>
            </a:r>
          </a:p>
        </p:txBody>
      </p:sp>
      <p:sp>
        <p:nvSpPr>
          <p:cNvPr id="49" name="Arrow: Chevron 48">
            <a:extLst>
              <a:ext uri="{FF2B5EF4-FFF2-40B4-BE49-F238E27FC236}">
                <a16:creationId xmlns:a16="http://schemas.microsoft.com/office/drawing/2014/main" id="{F3835F4C-99AB-490E-A294-0518009F395A}"/>
              </a:ext>
            </a:extLst>
          </p:cNvPr>
          <p:cNvSpPr/>
          <p:nvPr/>
        </p:nvSpPr>
        <p:spPr>
          <a:xfrm>
            <a:off x="3906982" y="457934"/>
            <a:ext cx="2410691" cy="1198075"/>
          </a:xfrm>
          <a:prstGeom prst="chevron">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Bahnschrift Light Condensed" panose="020B0502040204020203" pitchFamily="34" charset="0"/>
              </a:rPr>
              <a:t>Ajouter du poids et du bais</a:t>
            </a:r>
            <a:endParaRPr lang="en-GB" b="1" dirty="0">
              <a:solidFill>
                <a:schemeClr val="tx1"/>
              </a:solidFill>
              <a:latin typeface="Bahnschrift Light Condensed" panose="020B0502040204020203" pitchFamily="34" charset="0"/>
            </a:endParaRPr>
          </a:p>
        </p:txBody>
      </p:sp>
      <p:sp>
        <p:nvSpPr>
          <p:cNvPr id="50" name="Arrow: Chevron 49">
            <a:extLst>
              <a:ext uri="{FF2B5EF4-FFF2-40B4-BE49-F238E27FC236}">
                <a16:creationId xmlns:a16="http://schemas.microsoft.com/office/drawing/2014/main" id="{1F79D12E-BF48-4A68-90FF-2EAF2FBF928E}"/>
              </a:ext>
            </a:extLst>
          </p:cNvPr>
          <p:cNvSpPr/>
          <p:nvPr/>
        </p:nvSpPr>
        <p:spPr>
          <a:xfrm>
            <a:off x="5811983" y="456856"/>
            <a:ext cx="2410691" cy="1198075"/>
          </a:xfrm>
          <a:prstGeom prst="chevron">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Bahnschrift Light Condensed" panose="020B0502040204020203" pitchFamily="34" charset="0"/>
              </a:rPr>
              <a:t>Ajouter une couche de sortie</a:t>
            </a:r>
            <a:endParaRPr lang="en-GB" b="1" dirty="0">
              <a:solidFill>
                <a:schemeClr val="tx1"/>
              </a:solidFill>
              <a:latin typeface="Bahnschrift Light Condensed" panose="020B0502040204020203" pitchFamily="34" charset="0"/>
            </a:endParaRPr>
          </a:p>
        </p:txBody>
      </p:sp>
      <p:sp>
        <p:nvSpPr>
          <p:cNvPr id="51" name="Arrow: Chevron 50">
            <a:extLst>
              <a:ext uri="{FF2B5EF4-FFF2-40B4-BE49-F238E27FC236}">
                <a16:creationId xmlns:a16="http://schemas.microsoft.com/office/drawing/2014/main" id="{65B4115F-FBA1-49FB-B4C6-803DE13FF992}"/>
              </a:ext>
            </a:extLst>
          </p:cNvPr>
          <p:cNvSpPr/>
          <p:nvPr/>
        </p:nvSpPr>
        <p:spPr>
          <a:xfrm>
            <a:off x="7703129" y="455401"/>
            <a:ext cx="2410691" cy="1198075"/>
          </a:xfrm>
          <a:prstGeom prst="chevron">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Bahnschrift Light Condensed" panose="020B0502040204020203" pitchFamily="34" charset="0"/>
              </a:rPr>
              <a:t>Calculer la somme pondérée des entrées</a:t>
            </a:r>
            <a:endParaRPr lang="en-GB" b="1" dirty="0">
              <a:solidFill>
                <a:schemeClr val="tx1"/>
              </a:solidFill>
              <a:latin typeface="Bahnschrift Light Condensed" panose="020B0502040204020203" pitchFamily="34" charset="0"/>
            </a:endParaRPr>
          </a:p>
        </p:txBody>
      </p:sp>
      <p:sp>
        <p:nvSpPr>
          <p:cNvPr id="52" name="Arrow: Chevron 51">
            <a:extLst>
              <a:ext uri="{FF2B5EF4-FFF2-40B4-BE49-F238E27FC236}">
                <a16:creationId xmlns:a16="http://schemas.microsoft.com/office/drawing/2014/main" id="{FB2AF096-93DC-49D7-9399-9E584FB91745}"/>
              </a:ext>
            </a:extLst>
          </p:cNvPr>
          <p:cNvSpPr/>
          <p:nvPr/>
        </p:nvSpPr>
        <p:spPr>
          <a:xfrm>
            <a:off x="9608130" y="455401"/>
            <a:ext cx="2410691" cy="1198075"/>
          </a:xfrm>
          <a:prstGeom prst="chevron">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tx1"/>
                </a:solidFill>
                <a:latin typeface="Bahnschrift Light Condensed" panose="020B0502040204020203" pitchFamily="34" charset="0"/>
              </a:rPr>
              <a:t>Prédire la sortie en utilisant la fonction d'activation</a:t>
            </a:r>
            <a:endParaRPr lang="en-GB" sz="1600" b="1" dirty="0">
              <a:solidFill>
                <a:schemeClr val="tx1"/>
              </a:solidFill>
              <a:latin typeface="Bahnschrift Light Condensed" panose="020B0502040204020203" pitchFamily="34" charset="0"/>
            </a:endParaRPr>
          </a:p>
        </p:txBody>
      </p:sp>
      <p:sp>
        <p:nvSpPr>
          <p:cNvPr id="53" name="Arrow: Chevron 52">
            <a:extLst>
              <a:ext uri="{FF2B5EF4-FFF2-40B4-BE49-F238E27FC236}">
                <a16:creationId xmlns:a16="http://schemas.microsoft.com/office/drawing/2014/main" id="{375CB7ED-FD72-45F3-B99B-F47E9F8BA50B}"/>
              </a:ext>
            </a:extLst>
          </p:cNvPr>
          <p:cNvSpPr/>
          <p:nvPr/>
        </p:nvSpPr>
        <p:spPr>
          <a:xfrm>
            <a:off x="2001981" y="5530304"/>
            <a:ext cx="2410691" cy="1198075"/>
          </a:xfrm>
          <a:prstGeom prst="chevron">
            <a:avLst/>
          </a:prstGeom>
          <a:solidFill>
            <a:schemeClr val="tx1">
              <a:lumMod val="65000"/>
              <a:lumOff val="3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Bahnschrift Light Condensed" panose="020B0502040204020203" pitchFamily="34" charset="0"/>
              </a:rPr>
              <a:t>calculer l'erreur</a:t>
            </a:r>
          </a:p>
        </p:txBody>
      </p:sp>
      <p:sp>
        <p:nvSpPr>
          <p:cNvPr id="54" name="Arrow: Chevron 53">
            <a:extLst>
              <a:ext uri="{FF2B5EF4-FFF2-40B4-BE49-F238E27FC236}">
                <a16:creationId xmlns:a16="http://schemas.microsoft.com/office/drawing/2014/main" id="{7EFD888F-07D3-4C6B-B559-3BB081CE6747}"/>
              </a:ext>
            </a:extLst>
          </p:cNvPr>
          <p:cNvSpPr/>
          <p:nvPr/>
        </p:nvSpPr>
        <p:spPr>
          <a:xfrm>
            <a:off x="3906982" y="5539788"/>
            <a:ext cx="2410691" cy="1198075"/>
          </a:xfrm>
          <a:prstGeom prst="chevron">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i="0" dirty="0">
                <a:solidFill>
                  <a:schemeClr val="tx1"/>
                </a:solidFill>
                <a:effectLst/>
                <a:latin typeface="Arial" panose="020B0604020202020204" pitchFamily="34" charset="0"/>
              </a:rPr>
              <a:t>utiliser l'algorithme de descente en gradient</a:t>
            </a:r>
          </a:p>
        </p:txBody>
      </p:sp>
      <p:sp>
        <p:nvSpPr>
          <p:cNvPr id="55" name="Arrow: Chevron 54">
            <a:extLst>
              <a:ext uri="{FF2B5EF4-FFF2-40B4-BE49-F238E27FC236}">
                <a16:creationId xmlns:a16="http://schemas.microsoft.com/office/drawing/2014/main" id="{208CF4AB-6E20-4204-AD6B-1B066C47526B}"/>
              </a:ext>
            </a:extLst>
          </p:cNvPr>
          <p:cNvSpPr/>
          <p:nvPr/>
        </p:nvSpPr>
        <p:spPr>
          <a:xfrm>
            <a:off x="5811983" y="5529226"/>
            <a:ext cx="2410691" cy="1198075"/>
          </a:xfrm>
          <a:prstGeom prst="chevron">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Bahnschrift Light Condensed" panose="020B0502040204020203" pitchFamily="34" charset="0"/>
              </a:rPr>
              <a:t>Actualiser les poids</a:t>
            </a:r>
            <a:endParaRPr lang="en-GB" b="1" dirty="0">
              <a:solidFill>
                <a:schemeClr val="tx1"/>
              </a:solidFill>
              <a:latin typeface="Bahnschrift Light Condensed" panose="020B0502040204020203" pitchFamily="34" charset="0"/>
            </a:endParaRPr>
          </a:p>
        </p:txBody>
      </p:sp>
      <p:sp>
        <p:nvSpPr>
          <p:cNvPr id="56" name="Arrow: Chevron 55">
            <a:extLst>
              <a:ext uri="{FF2B5EF4-FFF2-40B4-BE49-F238E27FC236}">
                <a16:creationId xmlns:a16="http://schemas.microsoft.com/office/drawing/2014/main" id="{5342A47B-5A6E-411C-A051-0A368F7C6BEE}"/>
              </a:ext>
            </a:extLst>
          </p:cNvPr>
          <p:cNvSpPr/>
          <p:nvPr/>
        </p:nvSpPr>
        <p:spPr>
          <a:xfrm>
            <a:off x="7703129" y="5527771"/>
            <a:ext cx="2410691" cy="1198075"/>
          </a:xfrm>
          <a:prstGeom prst="chevron">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Bahnschrift Light Condensed" panose="020B0502040204020203" pitchFamily="34" charset="0"/>
              </a:rPr>
              <a:t>Actualiser</a:t>
            </a:r>
          </a:p>
          <a:p>
            <a:pPr algn="ctr"/>
            <a:r>
              <a:rPr lang="fr-FR" b="1" dirty="0">
                <a:solidFill>
                  <a:schemeClr val="tx1"/>
                </a:solidFill>
                <a:latin typeface="Bahnschrift Light Condensed" panose="020B0502040204020203" pitchFamily="34" charset="0"/>
              </a:rPr>
              <a:t> le biais</a:t>
            </a:r>
            <a:endParaRPr lang="en-GB" b="1" dirty="0">
              <a:solidFill>
                <a:schemeClr val="tx1"/>
              </a:solidFill>
              <a:latin typeface="Bahnschrift Light Condensed" panose="020B0502040204020203" pitchFamily="34" charset="0"/>
            </a:endParaRPr>
          </a:p>
        </p:txBody>
      </p:sp>
      <p:sp>
        <p:nvSpPr>
          <p:cNvPr id="57" name="Arrow: Chevron 56">
            <a:extLst>
              <a:ext uri="{FF2B5EF4-FFF2-40B4-BE49-F238E27FC236}">
                <a16:creationId xmlns:a16="http://schemas.microsoft.com/office/drawing/2014/main" id="{CB2547AE-627D-4A61-9505-DEB46BDBB504}"/>
              </a:ext>
            </a:extLst>
          </p:cNvPr>
          <p:cNvSpPr/>
          <p:nvPr/>
        </p:nvSpPr>
        <p:spPr>
          <a:xfrm>
            <a:off x="9608130" y="5527771"/>
            <a:ext cx="2410691" cy="1198075"/>
          </a:xfrm>
          <a:prstGeom prst="chevron">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tx1"/>
                </a:solidFill>
                <a:latin typeface="Bahnschrift Light Condensed" panose="020B0502040204020203" pitchFamily="34" charset="0"/>
              </a:rPr>
              <a:t>faites ceci pour un nombre n d'itérations pour la précision</a:t>
            </a:r>
            <a:endParaRPr lang="en-GB" sz="1400" b="1" dirty="0">
              <a:solidFill>
                <a:schemeClr val="tx1"/>
              </a:solidFill>
              <a:latin typeface="Bahnschrift Light Condensed" panose="020B0502040204020203" pitchFamily="34" charset="0"/>
            </a:endParaRPr>
          </a:p>
        </p:txBody>
      </p:sp>
      <p:sp>
        <p:nvSpPr>
          <p:cNvPr id="3" name="Oval 2">
            <a:extLst>
              <a:ext uri="{FF2B5EF4-FFF2-40B4-BE49-F238E27FC236}">
                <a16:creationId xmlns:a16="http://schemas.microsoft.com/office/drawing/2014/main" id="{03CE7426-5881-4103-A38B-B1F519B01E32}"/>
              </a:ext>
            </a:extLst>
          </p:cNvPr>
          <p:cNvSpPr/>
          <p:nvPr/>
        </p:nvSpPr>
        <p:spPr>
          <a:xfrm>
            <a:off x="374073" y="455401"/>
            <a:ext cx="1447801" cy="1198075"/>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b="1" dirty="0">
                <a:latin typeface="Andalus" panose="02020603050405020304" pitchFamily="18" charset="-78"/>
                <a:cs typeface="Andalus" panose="02020603050405020304" pitchFamily="18" charset="-78"/>
              </a:rPr>
              <a:t>Feed-forward</a:t>
            </a:r>
            <a:endParaRPr lang="en-GB" b="1" dirty="0">
              <a:latin typeface="Andalus" panose="02020603050405020304" pitchFamily="18" charset="-78"/>
              <a:cs typeface="Andalus" panose="02020603050405020304" pitchFamily="18" charset="-78"/>
            </a:endParaRPr>
          </a:p>
        </p:txBody>
      </p:sp>
      <p:sp>
        <p:nvSpPr>
          <p:cNvPr id="48" name="Oval 47">
            <a:extLst>
              <a:ext uri="{FF2B5EF4-FFF2-40B4-BE49-F238E27FC236}">
                <a16:creationId xmlns:a16="http://schemas.microsoft.com/office/drawing/2014/main" id="{C80F0B3A-EF34-47B5-92EF-780FD542D72C}"/>
              </a:ext>
            </a:extLst>
          </p:cNvPr>
          <p:cNvSpPr/>
          <p:nvPr/>
        </p:nvSpPr>
        <p:spPr>
          <a:xfrm>
            <a:off x="374073" y="5527770"/>
            <a:ext cx="1447801" cy="1198075"/>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r-FR" sz="2000" b="1" dirty="0">
                <a:latin typeface="Andalus" panose="02020603050405020304" pitchFamily="18" charset="-78"/>
                <a:cs typeface="Andalus" panose="02020603050405020304" pitchFamily="18" charset="-78"/>
              </a:rPr>
              <a:t>Back-propagation</a:t>
            </a:r>
            <a:endParaRPr lang="en-GB" sz="2000" b="1" dirty="0">
              <a:latin typeface="Andalus" panose="02020603050405020304" pitchFamily="18" charset="-78"/>
              <a:cs typeface="Andalus" panose="02020603050405020304" pitchFamily="18" charset="-78"/>
            </a:endParaRPr>
          </a:p>
        </p:txBody>
      </p:sp>
      <p:sp>
        <p:nvSpPr>
          <p:cNvPr id="9" name="TextBox 8">
            <a:extLst>
              <a:ext uri="{FF2B5EF4-FFF2-40B4-BE49-F238E27FC236}">
                <a16:creationId xmlns:a16="http://schemas.microsoft.com/office/drawing/2014/main" id="{CC39B052-C328-4588-AB4B-DDD0BE267908}"/>
              </a:ext>
            </a:extLst>
          </p:cNvPr>
          <p:cNvSpPr txBox="1"/>
          <p:nvPr/>
        </p:nvSpPr>
        <p:spPr>
          <a:xfrm>
            <a:off x="3497515" y="-55540"/>
            <a:ext cx="5612606" cy="523220"/>
          </a:xfrm>
          <a:prstGeom prst="rect">
            <a:avLst/>
          </a:prstGeom>
          <a:noFill/>
        </p:spPr>
        <p:txBody>
          <a:bodyPr wrap="square" rtlCol="0">
            <a:spAutoFit/>
          </a:bodyPr>
          <a:lstStyle/>
          <a:p>
            <a:r>
              <a:rPr lang="fr-FR" sz="2800" b="1" dirty="0">
                <a:solidFill>
                  <a:srgbClr val="FF0000"/>
                </a:solidFill>
                <a:latin typeface="Agency FB" panose="020B0503020202020204" pitchFamily="34" charset="0"/>
              </a:rPr>
              <a:t>Comment fonctionne un réseaux de neurone</a:t>
            </a:r>
            <a:endParaRPr lang="en-GB" sz="2800" b="1" dirty="0">
              <a:solidFill>
                <a:srgbClr val="FF0000"/>
              </a:solidFill>
              <a:latin typeface="Agency FB" panose="020B0503020202020204" pitchFamily="34" charset="0"/>
            </a:endParaRPr>
          </a:p>
        </p:txBody>
      </p:sp>
    </p:spTree>
    <p:extLst>
      <p:ext uri="{BB962C8B-B14F-4D97-AF65-F5344CB8AC3E}">
        <p14:creationId xmlns:p14="http://schemas.microsoft.com/office/powerpoint/2010/main" val="4201545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1C57BF-5111-44DC-B25F-B35F6B369AAF}"/>
              </a:ext>
            </a:extLst>
          </p:cNvPr>
          <p:cNvSpPr txBox="1">
            <a:spLocks/>
          </p:cNvSpPr>
          <p:nvPr/>
        </p:nvSpPr>
        <p:spPr>
          <a:xfrm>
            <a:off x="2816442" y="2054496"/>
            <a:ext cx="6559115" cy="274900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solidFill>
                  <a:srgbClr val="FFFF00"/>
                </a:solidFill>
                <a:latin typeface="Colonna MT" panose="04020805060202030203" pitchFamily="82" charset="0"/>
              </a:rPr>
              <a:t>Interprétation des données de prédiction des maladies cardiaques</a:t>
            </a:r>
            <a:endParaRPr lang="en-GB" sz="4800" dirty="0">
              <a:solidFill>
                <a:srgbClr val="FFFF00"/>
              </a:solidFill>
              <a:latin typeface="Colonna MT" panose="04020805060202030203" pitchFamily="82" charset="0"/>
            </a:endParaRPr>
          </a:p>
        </p:txBody>
      </p:sp>
    </p:spTree>
    <p:extLst>
      <p:ext uri="{BB962C8B-B14F-4D97-AF65-F5344CB8AC3E}">
        <p14:creationId xmlns:p14="http://schemas.microsoft.com/office/powerpoint/2010/main" val="3134649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1E39345-98C1-4200-ABAE-276E9B7E758D}"/>
              </a:ext>
            </a:extLst>
          </p:cNvPr>
          <p:cNvPicPr>
            <a:picLocks noChangeAspect="1"/>
          </p:cNvPicPr>
          <p:nvPr/>
        </p:nvPicPr>
        <p:blipFill>
          <a:blip r:embed="rId2"/>
          <a:stretch>
            <a:fillRect/>
          </a:stretch>
        </p:blipFill>
        <p:spPr>
          <a:xfrm>
            <a:off x="4214174" y="-11919"/>
            <a:ext cx="3602182" cy="2463577"/>
          </a:xfrm>
          <a:prstGeom prst="rect">
            <a:avLst/>
          </a:prstGeom>
        </p:spPr>
      </p:pic>
      <p:pic>
        <p:nvPicPr>
          <p:cNvPr id="13" name="Picture 12">
            <a:extLst>
              <a:ext uri="{FF2B5EF4-FFF2-40B4-BE49-F238E27FC236}">
                <a16:creationId xmlns:a16="http://schemas.microsoft.com/office/drawing/2014/main" id="{D985C5AD-3AAF-4B09-A3CF-6995471A7A30}"/>
              </a:ext>
            </a:extLst>
          </p:cNvPr>
          <p:cNvPicPr>
            <a:picLocks noChangeAspect="1"/>
          </p:cNvPicPr>
          <p:nvPr/>
        </p:nvPicPr>
        <p:blipFill>
          <a:blip r:embed="rId3"/>
          <a:stretch>
            <a:fillRect/>
          </a:stretch>
        </p:blipFill>
        <p:spPr>
          <a:xfrm>
            <a:off x="7574" y="-11919"/>
            <a:ext cx="3730560" cy="2463577"/>
          </a:xfrm>
          <a:prstGeom prst="rect">
            <a:avLst/>
          </a:prstGeom>
        </p:spPr>
      </p:pic>
      <p:pic>
        <p:nvPicPr>
          <p:cNvPr id="15" name="Picture 14">
            <a:extLst>
              <a:ext uri="{FF2B5EF4-FFF2-40B4-BE49-F238E27FC236}">
                <a16:creationId xmlns:a16="http://schemas.microsoft.com/office/drawing/2014/main" id="{4BCE0723-3982-4431-87E3-9263B0A9FF9F}"/>
              </a:ext>
            </a:extLst>
          </p:cNvPr>
          <p:cNvPicPr>
            <a:picLocks noChangeAspect="1"/>
          </p:cNvPicPr>
          <p:nvPr/>
        </p:nvPicPr>
        <p:blipFill>
          <a:blip r:embed="rId4"/>
          <a:stretch>
            <a:fillRect/>
          </a:stretch>
        </p:blipFill>
        <p:spPr>
          <a:xfrm>
            <a:off x="8292397" y="-40009"/>
            <a:ext cx="3716902" cy="2454558"/>
          </a:xfrm>
          <a:prstGeom prst="rect">
            <a:avLst/>
          </a:prstGeom>
        </p:spPr>
      </p:pic>
      <p:pic>
        <p:nvPicPr>
          <p:cNvPr id="17" name="Picture 16">
            <a:extLst>
              <a:ext uri="{FF2B5EF4-FFF2-40B4-BE49-F238E27FC236}">
                <a16:creationId xmlns:a16="http://schemas.microsoft.com/office/drawing/2014/main" id="{DD96EBA3-EF2E-4F53-AA94-76B06AD15C80}"/>
              </a:ext>
            </a:extLst>
          </p:cNvPr>
          <p:cNvPicPr>
            <a:picLocks noChangeAspect="1"/>
          </p:cNvPicPr>
          <p:nvPr/>
        </p:nvPicPr>
        <p:blipFill>
          <a:blip r:embed="rId5"/>
          <a:stretch>
            <a:fillRect/>
          </a:stretch>
        </p:blipFill>
        <p:spPr>
          <a:xfrm>
            <a:off x="0" y="3782792"/>
            <a:ext cx="3738134" cy="2468579"/>
          </a:xfrm>
          <a:prstGeom prst="rect">
            <a:avLst/>
          </a:prstGeom>
        </p:spPr>
      </p:pic>
      <p:pic>
        <p:nvPicPr>
          <p:cNvPr id="19" name="Picture 18">
            <a:extLst>
              <a:ext uri="{FF2B5EF4-FFF2-40B4-BE49-F238E27FC236}">
                <a16:creationId xmlns:a16="http://schemas.microsoft.com/office/drawing/2014/main" id="{7634805F-EF66-45E1-AC3F-8210AE7DD2E4}"/>
              </a:ext>
            </a:extLst>
          </p:cNvPr>
          <p:cNvPicPr>
            <a:picLocks noChangeAspect="1"/>
          </p:cNvPicPr>
          <p:nvPr/>
        </p:nvPicPr>
        <p:blipFill>
          <a:blip r:embed="rId6"/>
          <a:stretch>
            <a:fillRect/>
          </a:stretch>
        </p:blipFill>
        <p:spPr>
          <a:xfrm>
            <a:off x="3951391" y="3493297"/>
            <a:ext cx="4034266" cy="2664138"/>
          </a:xfrm>
          <a:prstGeom prst="rect">
            <a:avLst/>
          </a:prstGeom>
        </p:spPr>
      </p:pic>
      <p:pic>
        <p:nvPicPr>
          <p:cNvPr id="21" name="Picture 20">
            <a:extLst>
              <a:ext uri="{FF2B5EF4-FFF2-40B4-BE49-F238E27FC236}">
                <a16:creationId xmlns:a16="http://schemas.microsoft.com/office/drawing/2014/main" id="{3379EC94-CC57-45FF-9468-27226FDC9214}"/>
              </a:ext>
            </a:extLst>
          </p:cNvPr>
          <p:cNvPicPr>
            <a:picLocks noChangeAspect="1"/>
          </p:cNvPicPr>
          <p:nvPr/>
        </p:nvPicPr>
        <p:blipFill>
          <a:blip r:embed="rId7"/>
          <a:stretch>
            <a:fillRect/>
          </a:stretch>
        </p:blipFill>
        <p:spPr>
          <a:xfrm>
            <a:off x="8167706" y="3652993"/>
            <a:ext cx="3726874" cy="2461143"/>
          </a:xfrm>
          <a:prstGeom prst="rect">
            <a:avLst/>
          </a:prstGeom>
        </p:spPr>
      </p:pic>
      <p:sp>
        <p:nvSpPr>
          <p:cNvPr id="22" name="TextBox 21">
            <a:extLst>
              <a:ext uri="{FF2B5EF4-FFF2-40B4-BE49-F238E27FC236}">
                <a16:creationId xmlns:a16="http://schemas.microsoft.com/office/drawing/2014/main" id="{05C6ED9D-D71C-42C2-BE19-D9D592A61E7A}"/>
              </a:ext>
            </a:extLst>
          </p:cNvPr>
          <p:cNvSpPr txBox="1"/>
          <p:nvPr/>
        </p:nvSpPr>
        <p:spPr>
          <a:xfrm>
            <a:off x="4444774" y="2446092"/>
            <a:ext cx="3371582" cy="1015663"/>
          </a:xfrm>
          <a:prstGeom prst="rect">
            <a:avLst/>
          </a:prstGeom>
          <a:noFill/>
        </p:spPr>
        <p:txBody>
          <a:bodyPr wrap="square" rtlCol="0">
            <a:spAutoFit/>
          </a:bodyPr>
          <a:lstStyle/>
          <a:p>
            <a:pPr algn="ctr"/>
            <a:r>
              <a:rPr lang="fr-FR" sz="1400" dirty="0"/>
              <a:t>les hommes ont un risque beaucoup plus élevé de contracter une maladie cardiaque que les femmes. </a:t>
            </a:r>
            <a:endParaRPr lang="en-GB" sz="1400" dirty="0"/>
          </a:p>
          <a:p>
            <a:endParaRPr lang="en-GB" dirty="0"/>
          </a:p>
        </p:txBody>
      </p:sp>
      <p:sp>
        <p:nvSpPr>
          <p:cNvPr id="23" name="TextBox 22">
            <a:extLst>
              <a:ext uri="{FF2B5EF4-FFF2-40B4-BE49-F238E27FC236}">
                <a16:creationId xmlns:a16="http://schemas.microsoft.com/office/drawing/2014/main" id="{86D16527-41E8-4780-8340-E061FB18C780}"/>
              </a:ext>
            </a:extLst>
          </p:cNvPr>
          <p:cNvSpPr txBox="1"/>
          <p:nvPr/>
        </p:nvSpPr>
        <p:spPr>
          <a:xfrm>
            <a:off x="8728364" y="2352994"/>
            <a:ext cx="3166216" cy="1231106"/>
          </a:xfrm>
          <a:prstGeom prst="rect">
            <a:avLst/>
          </a:prstGeom>
          <a:noFill/>
        </p:spPr>
        <p:txBody>
          <a:bodyPr wrap="square" rtlCol="0">
            <a:spAutoFit/>
          </a:bodyPr>
          <a:lstStyle/>
          <a:p>
            <a:pPr algn="ctr"/>
            <a:r>
              <a:rPr lang="fr-FR" sz="1400" dirty="0"/>
              <a:t>les patients ayant une glycémie à jeun élevée (&gt; 120 mg/dl) ont un risque beaucoup plus élevé de maladie cardiaque.</a:t>
            </a:r>
            <a:endParaRPr lang="en-GB" sz="1400" dirty="0"/>
          </a:p>
          <a:p>
            <a:endParaRPr lang="en-GB" dirty="0"/>
          </a:p>
        </p:txBody>
      </p:sp>
      <p:sp>
        <p:nvSpPr>
          <p:cNvPr id="24" name="TextBox 23">
            <a:extLst>
              <a:ext uri="{FF2B5EF4-FFF2-40B4-BE49-F238E27FC236}">
                <a16:creationId xmlns:a16="http://schemas.microsoft.com/office/drawing/2014/main" id="{8F47FDD3-2AB0-4B94-8F4E-4ACB3F63BA77}"/>
              </a:ext>
            </a:extLst>
          </p:cNvPr>
          <p:cNvSpPr txBox="1"/>
          <p:nvPr/>
        </p:nvSpPr>
        <p:spPr>
          <a:xfrm>
            <a:off x="182701" y="2414549"/>
            <a:ext cx="3856545" cy="1169551"/>
          </a:xfrm>
          <a:prstGeom prst="rect">
            <a:avLst/>
          </a:prstGeom>
          <a:noFill/>
        </p:spPr>
        <p:txBody>
          <a:bodyPr wrap="square" rtlCol="0">
            <a:spAutoFit/>
          </a:bodyPr>
          <a:lstStyle/>
          <a:p>
            <a:pPr algn="ctr"/>
            <a:r>
              <a:rPr lang="fr-FR" sz="1400" dirty="0"/>
              <a:t>les patients souffrant de douleurs thoraciques ASY ont un risque beaucoup plus élevé d'avoir une maladie cardiaque que les autres types de douleurs thoraciques. Ceci est suivi par une douleur thoracique TA, NAP et ATA. </a:t>
            </a:r>
            <a:endParaRPr lang="en-GB" sz="1400" dirty="0">
              <a:latin typeface="Consolas" panose="020B0609020204030204" pitchFamily="49" charset="0"/>
            </a:endParaRPr>
          </a:p>
        </p:txBody>
      </p:sp>
      <p:sp>
        <p:nvSpPr>
          <p:cNvPr id="25" name="TextBox 24">
            <a:extLst>
              <a:ext uri="{FF2B5EF4-FFF2-40B4-BE49-F238E27FC236}">
                <a16:creationId xmlns:a16="http://schemas.microsoft.com/office/drawing/2014/main" id="{ED4B380A-2B5E-4768-9E00-81736486DF71}"/>
              </a:ext>
            </a:extLst>
          </p:cNvPr>
          <p:cNvSpPr txBox="1"/>
          <p:nvPr/>
        </p:nvSpPr>
        <p:spPr>
          <a:xfrm>
            <a:off x="182701" y="6219352"/>
            <a:ext cx="3856545" cy="738664"/>
          </a:xfrm>
          <a:prstGeom prst="rect">
            <a:avLst/>
          </a:prstGeom>
          <a:noFill/>
        </p:spPr>
        <p:txBody>
          <a:bodyPr wrap="square" rtlCol="0">
            <a:spAutoFit/>
          </a:bodyPr>
          <a:lstStyle/>
          <a:p>
            <a:pPr algn="ctr"/>
            <a:r>
              <a:rPr lang="fr-FR" sz="1400" dirty="0"/>
              <a:t>Les patients ST ont une chance légèrement plus élevée que les autres. </a:t>
            </a:r>
          </a:p>
          <a:p>
            <a:pPr algn="ctr"/>
            <a:endParaRPr lang="en-GB" sz="1400" b="0" dirty="0">
              <a:effectLst/>
              <a:latin typeface="Consolas" panose="020B0609020204030204" pitchFamily="49" charset="0"/>
            </a:endParaRPr>
          </a:p>
        </p:txBody>
      </p:sp>
      <p:sp>
        <p:nvSpPr>
          <p:cNvPr id="26" name="TextBox 25">
            <a:extLst>
              <a:ext uri="{FF2B5EF4-FFF2-40B4-BE49-F238E27FC236}">
                <a16:creationId xmlns:a16="http://schemas.microsoft.com/office/drawing/2014/main" id="{5BAB5A8F-27B8-43E1-9DC2-DAAAEA62C831}"/>
              </a:ext>
            </a:extLst>
          </p:cNvPr>
          <p:cNvSpPr txBox="1"/>
          <p:nvPr/>
        </p:nvSpPr>
        <p:spPr>
          <a:xfrm>
            <a:off x="4252503" y="6027003"/>
            <a:ext cx="3900116" cy="738664"/>
          </a:xfrm>
          <a:prstGeom prst="rect">
            <a:avLst/>
          </a:prstGeom>
          <a:noFill/>
        </p:spPr>
        <p:txBody>
          <a:bodyPr wrap="square" rtlCol="0">
            <a:spAutoFit/>
          </a:bodyPr>
          <a:lstStyle/>
          <a:p>
            <a:r>
              <a:rPr lang="fr-FR" sz="1400" dirty="0"/>
              <a:t>Les patients Flat et Down ont un risque beaucoup plus élevé de maladie cardiaque que les patients Up. </a:t>
            </a:r>
          </a:p>
        </p:txBody>
      </p:sp>
      <p:sp>
        <p:nvSpPr>
          <p:cNvPr id="27" name="TextBox 26">
            <a:extLst>
              <a:ext uri="{FF2B5EF4-FFF2-40B4-BE49-F238E27FC236}">
                <a16:creationId xmlns:a16="http://schemas.microsoft.com/office/drawing/2014/main" id="{04B4ED16-7B70-4154-AD12-5C9ECAFB15AB}"/>
              </a:ext>
            </a:extLst>
          </p:cNvPr>
          <p:cNvSpPr txBox="1"/>
          <p:nvPr/>
        </p:nvSpPr>
        <p:spPr>
          <a:xfrm>
            <a:off x="8437611" y="6034651"/>
            <a:ext cx="3571688" cy="523220"/>
          </a:xfrm>
          <a:prstGeom prst="rect">
            <a:avLst/>
          </a:prstGeom>
          <a:noFill/>
        </p:spPr>
        <p:txBody>
          <a:bodyPr wrap="square" rtlCol="0">
            <a:spAutoFit/>
          </a:bodyPr>
          <a:lstStyle/>
          <a:p>
            <a:pPr algn="ctr"/>
            <a:r>
              <a:rPr lang="fr-FR" sz="1400" dirty="0"/>
              <a:t>les patients avec « oui » ont un risque beaucoup plus élevé de maladie cardiaque.</a:t>
            </a:r>
            <a:endParaRPr lang="en-GB" sz="1400" b="0" dirty="0">
              <a:effectLst/>
              <a:latin typeface="Consolas" panose="020B0609020204030204" pitchFamily="49" charset="0"/>
            </a:endParaRPr>
          </a:p>
        </p:txBody>
      </p:sp>
    </p:spTree>
    <p:extLst>
      <p:ext uri="{BB962C8B-B14F-4D97-AF65-F5344CB8AC3E}">
        <p14:creationId xmlns:p14="http://schemas.microsoft.com/office/powerpoint/2010/main" val="1099545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8278FD-7D06-4B5D-9C4B-D6868E444B13}"/>
              </a:ext>
            </a:extLst>
          </p:cNvPr>
          <p:cNvPicPr>
            <a:picLocks noChangeAspect="1"/>
          </p:cNvPicPr>
          <p:nvPr/>
        </p:nvPicPr>
        <p:blipFill>
          <a:blip r:embed="rId2"/>
          <a:stretch>
            <a:fillRect/>
          </a:stretch>
        </p:blipFill>
        <p:spPr>
          <a:xfrm>
            <a:off x="6096000" y="3429000"/>
            <a:ext cx="4331363" cy="2699256"/>
          </a:xfrm>
          <a:prstGeom prst="rect">
            <a:avLst/>
          </a:prstGeom>
        </p:spPr>
      </p:pic>
      <p:pic>
        <p:nvPicPr>
          <p:cNvPr id="7" name="Picture 6">
            <a:extLst>
              <a:ext uri="{FF2B5EF4-FFF2-40B4-BE49-F238E27FC236}">
                <a16:creationId xmlns:a16="http://schemas.microsoft.com/office/drawing/2014/main" id="{19D1AB64-F186-4C07-AEF3-7DAB7B9A92A0}"/>
              </a:ext>
            </a:extLst>
          </p:cNvPr>
          <p:cNvPicPr>
            <a:picLocks noChangeAspect="1"/>
          </p:cNvPicPr>
          <p:nvPr/>
        </p:nvPicPr>
        <p:blipFill>
          <a:blip r:embed="rId3"/>
          <a:stretch>
            <a:fillRect/>
          </a:stretch>
        </p:blipFill>
        <p:spPr>
          <a:xfrm>
            <a:off x="4017067" y="35558"/>
            <a:ext cx="4087466" cy="2518869"/>
          </a:xfrm>
          <a:prstGeom prst="rect">
            <a:avLst/>
          </a:prstGeom>
        </p:spPr>
      </p:pic>
      <p:pic>
        <p:nvPicPr>
          <p:cNvPr id="9" name="Picture 8">
            <a:extLst>
              <a:ext uri="{FF2B5EF4-FFF2-40B4-BE49-F238E27FC236}">
                <a16:creationId xmlns:a16="http://schemas.microsoft.com/office/drawing/2014/main" id="{17628786-FB50-45F8-A854-48100913BC04}"/>
              </a:ext>
            </a:extLst>
          </p:cNvPr>
          <p:cNvPicPr>
            <a:picLocks noChangeAspect="1"/>
          </p:cNvPicPr>
          <p:nvPr/>
        </p:nvPicPr>
        <p:blipFill>
          <a:blip r:embed="rId4"/>
          <a:stretch>
            <a:fillRect/>
          </a:stretch>
        </p:blipFill>
        <p:spPr>
          <a:xfrm>
            <a:off x="8104534" y="21363"/>
            <a:ext cx="4087466" cy="2547261"/>
          </a:xfrm>
          <a:prstGeom prst="rect">
            <a:avLst/>
          </a:prstGeom>
        </p:spPr>
      </p:pic>
      <p:pic>
        <p:nvPicPr>
          <p:cNvPr id="11" name="Picture 10">
            <a:extLst>
              <a:ext uri="{FF2B5EF4-FFF2-40B4-BE49-F238E27FC236}">
                <a16:creationId xmlns:a16="http://schemas.microsoft.com/office/drawing/2014/main" id="{B5252510-77E5-4765-A272-FAD9B729F093}"/>
              </a:ext>
            </a:extLst>
          </p:cNvPr>
          <p:cNvPicPr>
            <a:picLocks noChangeAspect="1"/>
          </p:cNvPicPr>
          <p:nvPr/>
        </p:nvPicPr>
        <p:blipFill>
          <a:blip r:embed="rId5"/>
          <a:stretch>
            <a:fillRect/>
          </a:stretch>
        </p:blipFill>
        <p:spPr>
          <a:xfrm>
            <a:off x="1151409" y="3523647"/>
            <a:ext cx="4331364" cy="2752444"/>
          </a:xfrm>
          <a:prstGeom prst="rect">
            <a:avLst/>
          </a:prstGeom>
        </p:spPr>
      </p:pic>
      <p:pic>
        <p:nvPicPr>
          <p:cNvPr id="13" name="Picture 12">
            <a:extLst>
              <a:ext uri="{FF2B5EF4-FFF2-40B4-BE49-F238E27FC236}">
                <a16:creationId xmlns:a16="http://schemas.microsoft.com/office/drawing/2014/main" id="{8A814644-51BE-453E-80C9-FB987CF3D9F4}"/>
              </a:ext>
            </a:extLst>
          </p:cNvPr>
          <p:cNvPicPr>
            <a:picLocks noChangeAspect="1"/>
          </p:cNvPicPr>
          <p:nvPr/>
        </p:nvPicPr>
        <p:blipFill>
          <a:blip r:embed="rId6"/>
          <a:stretch>
            <a:fillRect/>
          </a:stretch>
        </p:blipFill>
        <p:spPr>
          <a:xfrm>
            <a:off x="-70401" y="21363"/>
            <a:ext cx="4087467" cy="2547263"/>
          </a:xfrm>
          <a:prstGeom prst="rect">
            <a:avLst/>
          </a:prstGeom>
        </p:spPr>
      </p:pic>
      <p:sp>
        <p:nvSpPr>
          <p:cNvPr id="14" name="TextBox 13">
            <a:extLst>
              <a:ext uri="{FF2B5EF4-FFF2-40B4-BE49-F238E27FC236}">
                <a16:creationId xmlns:a16="http://schemas.microsoft.com/office/drawing/2014/main" id="{670FACEB-BCED-4805-9D93-0A9D963C87BA}"/>
              </a:ext>
            </a:extLst>
          </p:cNvPr>
          <p:cNvSpPr txBox="1"/>
          <p:nvPr/>
        </p:nvSpPr>
        <p:spPr>
          <a:xfrm>
            <a:off x="1192442" y="6153896"/>
            <a:ext cx="4331364" cy="584775"/>
          </a:xfrm>
          <a:prstGeom prst="rect">
            <a:avLst/>
          </a:prstGeom>
          <a:noFill/>
        </p:spPr>
        <p:txBody>
          <a:bodyPr wrap="square" rtlCol="0">
            <a:spAutoFit/>
          </a:bodyPr>
          <a:lstStyle/>
          <a:p>
            <a:pPr algn="ctr"/>
            <a:r>
              <a:rPr lang="fr-FR" sz="1600" dirty="0"/>
              <a:t>les patients avec des valeurs plus élevées sont à risque de maladie cardiaque</a:t>
            </a:r>
            <a:r>
              <a:rPr lang="en-GB" sz="1600" dirty="0">
                <a:latin typeface="Consolas" panose="020B0609020204030204" pitchFamily="49" charset="0"/>
              </a:rPr>
              <a:t>.</a:t>
            </a:r>
          </a:p>
        </p:txBody>
      </p:sp>
      <p:sp>
        <p:nvSpPr>
          <p:cNvPr id="15" name="TextBox 14">
            <a:extLst>
              <a:ext uri="{FF2B5EF4-FFF2-40B4-BE49-F238E27FC236}">
                <a16:creationId xmlns:a16="http://schemas.microsoft.com/office/drawing/2014/main" id="{78430C96-B9B8-4E71-92D5-F7FDA781F6F2}"/>
              </a:ext>
            </a:extLst>
          </p:cNvPr>
          <p:cNvSpPr txBox="1"/>
          <p:nvPr/>
        </p:nvSpPr>
        <p:spPr>
          <a:xfrm>
            <a:off x="6485206" y="6049108"/>
            <a:ext cx="3942157" cy="830997"/>
          </a:xfrm>
          <a:prstGeom prst="rect">
            <a:avLst/>
          </a:prstGeom>
          <a:noFill/>
        </p:spPr>
        <p:txBody>
          <a:bodyPr wrap="square" rtlCol="0">
            <a:spAutoFit/>
          </a:bodyPr>
          <a:lstStyle/>
          <a:p>
            <a:pPr algn="ctr"/>
            <a:r>
              <a:rPr lang="fr-FR" sz="1600" dirty="0"/>
              <a:t>les patients plus âgés ont un risque plus élevé de maladie cardiaque.</a:t>
            </a:r>
            <a:endParaRPr lang="en-GB" sz="1600" dirty="0">
              <a:latin typeface="Consolas" panose="020B0609020204030204" pitchFamily="49" charset="0"/>
            </a:endParaRPr>
          </a:p>
          <a:p>
            <a:pPr algn="ctr"/>
            <a:endParaRPr lang="en-GB" sz="1600" b="0" dirty="0">
              <a:effectLst/>
              <a:latin typeface="Consolas" panose="020B0609020204030204" pitchFamily="49" charset="0"/>
            </a:endParaRPr>
          </a:p>
        </p:txBody>
      </p:sp>
      <p:sp>
        <p:nvSpPr>
          <p:cNvPr id="2" name="TextBox 1">
            <a:extLst>
              <a:ext uri="{FF2B5EF4-FFF2-40B4-BE49-F238E27FC236}">
                <a16:creationId xmlns:a16="http://schemas.microsoft.com/office/drawing/2014/main" id="{6C7A6A2F-1CCA-4F6F-BB3B-ABEBB0CA85CC}"/>
              </a:ext>
            </a:extLst>
          </p:cNvPr>
          <p:cNvSpPr txBox="1"/>
          <p:nvPr/>
        </p:nvSpPr>
        <p:spPr>
          <a:xfrm>
            <a:off x="262109" y="2418035"/>
            <a:ext cx="3754958" cy="1077218"/>
          </a:xfrm>
          <a:prstGeom prst="rect">
            <a:avLst/>
          </a:prstGeom>
          <a:noFill/>
        </p:spPr>
        <p:txBody>
          <a:bodyPr wrap="square" rtlCol="0">
            <a:spAutoFit/>
          </a:bodyPr>
          <a:lstStyle/>
          <a:p>
            <a:pPr algn="ctr"/>
            <a:r>
              <a:rPr lang="fr-FR" sz="1600" dirty="0"/>
              <a:t>les patients dont la pression sanguine au repos est plus élevée ont un risque légèrement plus élevé de maladie cardiaque</a:t>
            </a:r>
            <a:endParaRPr lang="en-GB" sz="1600" dirty="0"/>
          </a:p>
        </p:txBody>
      </p:sp>
      <p:sp>
        <p:nvSpPr>
          <p:cNvPr id="3" name="TextBox 2">
            <a:extLst>
              <a:ext uri="{FF2B5EF4-FFF2-40B4-BE49-F238E27FC236}">
                <a16:creationId xmlns:a16="http://schemas.microsoft.com/office/drawing/2014/main" id="{471B350A-BFBC-432D-B896-429EA61304FE}"/>
              </a:ext>
            </a:extLst>
          </p:cNvPr>
          <p:cNvSpPr txBox="1"/>
          <p:nvPr/>
        </p:nvSpPr>
        <p:spPr>
          <a:xfrm>
            <a:off x="8511702" y="2465736"/>
            <a:ext cx="3624880" cy="1077218"/>
          </a:xfrm>
          <a:prstGeom prst="rect">
            <a:avLst/>
          </a:prstGeom>
          <a:noFill/>
        </p:spPr>
        <p:txBody>
          <a:bodyPr wrap="square" rtlCol="0">
            <a:spAutoFit/>
          </a:bodyPr>
          <a:lstStyle/>
          <a:p>
            <a:pPr algn="ctr"/>
            <a:r>
              <a:rPr lang="fr-FR" sz="1600" dirty="0"/>
              <a:t>les patients dont la fréquence cardiaque maximale est plus faible ont plus de chances de souffrir de maladies cardiaques.</a:t>
            </a:r>
            <a:endParaRPr lang="en-GB" sz="1600" dirty="0"/>
          </a:p>
        </p:txBody>
      </p:sp>
      <p:sp>
        <p:nvSpPr>
          <p:cNvPr id="4" name="TextBox 3">
            <a:extLst>
              <a:ext uri="{FF2B5EF4-FFF2-40B4-BE49-F238E27FC236}">
                <a16:creationId xmlns:a16="http://schemas.microsoft.com/office/drawing/2014/main" id="{37CA48E5-4F5D-4B0F-8DAF-EC31427DE35F}"/>
              </a:ext>
            </a:extLst>
          </p:cNvPr>
          <p:cNvSpPr txBox="1"/>
          <p:nvPr/>
        </p:nvSpPr>
        <p:spPr>
          <a:xfrm>
            <a:off x="4321205" y="2440065"/>
            <a:ext cx="3883883" cy="1169551"/>
          </a:xfrm>
          <a:prstGeom prst="rect">
            <a:avLst/>
          </a:prstGeom>
          <a:noFill/>
        </p:spPr>
        <p:txBody>
          <a:bodyPr wrap="square" rtlCol="0">
            <a:spAutoFit/>
          </a:bodyPr>
          <a:lstStyle/>
          <a:p>
            <a:pPr algn="ctr"/>
            <a:r>
              <a:rPr lang="fr-FR" sz="1400" dirty="0"/>
              <a:t>Sur la base de ces données, il est difficile de déterminer si le cholestérol est un indicateur de maladie cardiaque. Il convient de noter que pour les valeurs 0() , une grande majorité de patients souffraient de maladies cardiaques.</a:t>
            </a:r>
            <a:endParaRPr lang="en-GB" sz="1400" dirty="0"/>
          </a:p>
        </p:txBody>
      </p:sp>
    </p:spTree>
    <p:extLst>
      <p:ext uri="{BB962C8B-B14F-4D97-AF65-F5344CB8AC3E}">
        <p14:creationId xmlns:p14="http://schemas.microsoft.com/office/powerpoint/2010/main" val="988466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E866F-03B6-4451-938A-6BBA816A8493}"/>
              </a:ext>
            </a:extLst>
          </p:cNvPr>
          <p:cNvSpPr>
            <a:spLocks noGrp="1"/>
          </p:cNvSpPr>
          <p:nvPr>
            <p:ph type="title"/>
          </p:nvPr>
        </p:nvSpPr>
        <p:spPr>
          <a:xfrm>
            <a:off x="2816441" y="2100"/>
            <a:ext cx="6559115" cy="662781"/>
          </a:xfrm>
        </p:spPr>
        <p:txBody>
          <a:bodyPr>
            <a:noAutofit/>
          </a:bodyPr>
          <a:lstStyle/>
          <a:p>
            <a:pPr algn="ctr"/>
            <a:r>
              <a:rPr lang="fr-FR" sz="4800" dirty="0">
                <a:solidFill>
                  <a:srgbClr val="FFFF00"/>
                </a:solidFill>
                <a:latin typeface="Colonna MT" panose="04020805060202030203" pitchFamily="82" charset="0"/>
              </a:rPr>
              <a:t>Préparation des données</a:t>
            </a:r>
            <a:endParaRPr lang="en-GB" sz="4800" dirty="0">
              <a:solidFill>
                <a:srgbClr val="FFFF00"/>
              </a:solidFill>
              <a:latin typeface="Colonna MT" panose="04020805060202030203" pitchFamily="82" charset="0"/>
            </a:endParaRPr>
          </a:p>
        </p:txBody>
      </p:sp>
      <p:sp>
        <p:nvSpPr>
          <p:cNvPr id="6" name="TextBox 5">
            <a:extLst>
              <a:ext uri="{FF2B5EF4-FFF2-40B4-BE49-F238E27FC236}">
                <a16:creationId xmlns:a16="http://schemas.microsoft.com/office/drawing/2014/main" id="{1146FF44-73AE-497B-90F8-1488D682ABE1}"/>
              </a:ext>
            </a:extLst>
          </p:cNvPr>
          <p:cNvSpPr txBox="1"/>
          <p:nvPr/>
        </p:nvSpPr>
        <p:spPr>
          <a:xfrm>
            <a:off x="692726" y="731478"/>
            <a:ext cx="10806544" cy="523220"/>
          </a:xfrm>
          <a:prstGeom prst="rect">
            <a:avLst/>
          </a:prstGeom>
          <a:noFill/>
        </p:spPr>
        <p:txBody>
          <a:bodyPr wrap="square" rtlCol="0">
            <a:spAutoFit/>
          </a:bodyPr>
          <a:lstStyle/>
          <a:p>
            <a:pPr marL="514350" indent="-514350">
              <a:buFont typeface="+mj-lt"/>
              <a:buAutoNum type="arabicParenR"/>
            </a:pPr>
            <a:r>
              <a:rPr lang="fr-FR" sz="2800" dirty="0">
                <a:latin typeface="Andalus" panose="02020603050405020304" pitchFamily="18" charset="-78"/>
                <a:cs typeface="Italic Outline Art" panose="02010400000000000000" pitchFamily="2" charset="-78"/>
              </a:rPr>
              <a:t>Traitons les 0 valeurs pour le cholestérol et </a:t>
            </a:r>
            <a:r>
              <a:rPr lang="en-GB" sz="2800" b="0" dirty="0">
                <a:effectLst/>
                <a:latin typeface="Andalus" panose="02020603050405020304" pitchFamily="18" charset="-78"/>
                <a:cs typeface="Italic Outline Art" panose="02010400000000000000" pitchFamily="2" charset="-78"/>
              </a:rPr>
              <a:t>RestingBP:</a:t>
            </a:r>
          </a:p>
        </p:txBody>
      </p:sp>
      <p:sp>
        <p:nvSpPr>
          <p:cNvPr id="7" name="TextBox 6">
            <a:extLst>
              <a:ext uri="{FF2B5EF4-FFF2-40B4-BE49-F238E27FC236}">
                <a16:creationId xmlns:a16="http://schemas.microsoft.com/office/drawing/2014/main" id="{934809F0-126F-45A8-AD08-C2A7F3187B47}"/>
              </a:ext>
            </a:extLst>
          </p:cNvPr>
          <p:cNvSpPr txBox="1"/>
          <p:nvPr/>
        </p:nvSpPr>
        <p:spPr>
          <a:xfrm>
            <a:off x="1704109" y="1090795"/>
            <a:ext cx="9282545" cy="1754326"/>
          </a:xfrm>
          <a:prstGeom prst="rect">
            <a:avLst/>
          </a:prstGeom>
          <a:noFill/>
        </p:spPr>
        <p:txBody>
          <a:bodyPr wrap="square" rtlCol="0">
            <a:spAutoFit/>
          </a:bodyPr>
          <a:lstStyle/>
          <a:p>
            <a:pPr marL="571500" indent="-571500">
              <a:buFont typeface="Wingdings" panose="05000000000000000000" pitchFamily="2" charset="2"/>
              <a:buChar char="Ø"/>
            </a:pPr>
            <a:r>
              <a:rPr lang="fr-FR" sz="3600" dirty="0">
                <a:solidFill>
                  <a:schemeClr val="bg1"/>
                </a:solidFill>
                <a:latin typeface="Arabic Typesetting" panose="03020402040406030203" pitchFamily="66" charset="-78"/>
                <a:cs typeface="Arabic Typesetting" panose="03020402040406030203" pitchFamily="66" charset="-78"/>
              </a:rPr>
              <a:t>nous décidons de supprimer le cholestérol de nos variables prédictives car il contient de nombreuse valeurs 0 (Nan) .</a:t>
            </a:r>
          </a:p>
          <a:p>
            <a:pPr marL="571500" indent="-571500">
              <a:buFont typeface="Wingdings" panose="05000000000000000000" pitchFamily="2" charset="2"/>
              <a:buChar char="Ø"/>
            </a:pPr>
            <a:r>
              <a:rPr lang="fr-FR" sz="3600" dirty="0">
                <a:solidFill>
                  <a:schemeClr val="bg1"/>
                </a:solidFill>
                <a:latin typeface="Arabic Typesetting" panose="03020402040406030203" pitchFamily="66" charset="-78"/>
                <a:cs typeface="Arabic Typesetting" panose="03020402040406030203" pitchFamily="66" charset="-78"/>
              </a:rPr>
              <a:t>La valeur 0 pour RestingBP sera remplacée par la moyenne.</a:t>
            </a:r>
            <a:endParaRPr lang="en-GB" sz="3600" dirty="0">
              <a:solidFill>
                <a:schemeClr val="bg1"/>
              </a:solidFill>
              <a:latin typeface="Arabic Typesetting" panose="03020402040406030203" pitchFamily="66" charset="-78"/>
              <a:cs typeface="Arabic Typesetting" panose="03020402040406030203" pitchFamily="66" charset="-78"/>
            </a:endParaRPr>
          </a:p>
        </p:txBody>
      </p:sp>
      <p:sp>
        <p:nvSpPr>
          <p:cNvPr id="8" name="TextBox 7">
            <a:extLst>
              <a:ext uri="{FF2B5EF4-FFF2-40B4-BE49-F238E27FC236}">
                <a16:creationId xmlns:a16="http://schemas.microsoft.com/office/drawing/2014/main" id="{620907F5-E287-4AB2-A41A-F80E94EC93B9}"/>
              </a:ext>
            </a:extLst>
          </p:cNvPr>
          <p:cNvSpPr txBox="1"/>
          <p:nvPr/>
        </p:nvSpPr>
        <p:spPr>
          <a:xfrm>
            <a:off x="692726" y="3026499"/>
            <a:ext cx="10806544" cy="523220"/>
          </a:xfrm>
          <a:prstGeom prst="rect">
            <a:avLst/>
          </a:prstGeom>
          <a:noFill/>
        </p:spPr>
        <p:txBody>
          <a:bodyPr wrap="square" rtlCol="0">
            <a:spAutoFit/>
          </a:bodyPr>
          <a:lstStyle/>
          <a:p>
            <a:r>
              <a:rPr lang="fr-FR" sz="2800" dirty="0">
                <a:latin typeface="Andalus" panose="02020603050405020304" pitchFamily="18" charset="-78"/>
                <a:cs typeface="Italic Outline Art" panose="02010400000000000000" pitchFamily="2" charset="-78"/>
              </a:rPr>
              <a:t>2)  Encodage factice des variables qualitatives</a:t>
            </a:r>
            <a:r>
              <a:rPr lang="fr-FR" sz="2800" dirty="0">
                <a:solidFill>
                  <a:schemeClr val="bg1"/>
                </a:solidFill>
                <a:latin typeface="Arabic Typesetting" panose="03020402040406030203" pitchFamily="66" charset="-78"/>
                <a:cs typeface="Arabic Typesetting" panose="03020402040406030203" pitchFamily="66" charset="-78"/>
              </a:rPr>
              <a:t> </a:t>
            </a:r>
            <a:r>
              <a:rPr lang="fr-FR" sz="2800" dirty="0">
                <a:latin typeface="Arabic Typesetting" panose="03020402040406030203" pitchFamily="66" charset="-78"/>
                <a:cs typeface="Arabic Typesetting" panose="03020402040406030203" pitchFamily="66" charset="-78"/>
              </a:rPr>
              <a:t>.</a:t>
            </a:r>
            <a:endParaRPr lang="en-GB" sz="2800" b="0" dirty="0">
              <a:effectLst/>
              <a:latin typeface="Andalus" panose="02020603050405020304" pitchFamily="18" charset="-78"/>
              <a:cs typeface="Italic Outline Art" panose="02010400000000000000" pitchFamily="2" charset="-78"/>
            </a:endParaRPr>
          </a:p>
        </p:txBody>
      </p:sp>
      <p:pic>
        <p:nvPicPr>
          <p:cNvPr id="5" name="Picture 4">
            <a:extLst>
              <a:ext uri="{FF2B5EF4-FFF2-40B4-BE49-F238E27FC236}">
                <a16:creationId xmlns:a16="http://schemas.microsoft.com/office/drawing/2014/main" id="{56B19225-349D-42FC-9C90-C901BE1474DF}"/>
              </a:ext>
            </a:extLst>
          </p:cNvPr>
          <p:cNvPicPr>
            <a:picLocks noChangeAspect="1"/>
          </p:cNvPicPr>
          <p:nvPr/>
        </p:nvPicPr>
        <p:blipFill>
          <a:blip r:embed="rId2"/>
          <a:stretch>
            <a:fillRect/>
          </a:stretch>
        </p:blipFill>
        <p:spPr>
          <a:xfrm>
            <a:off x="2263991" y="3549719"/>
            <a:ext cx="1104900" cy="3048000"/>
          </a:xfrm>
          <a:prstGeom prst="rect">
            <a:avLst/>
          </a:prstGeom>
        </p:spPr>
      </p:pic>
      <p:pic>
        <p:nvPicPr>
          <p:cNvPr id="13" name="Picture 12">
            <a:extLst>
              <a:ext uri="{FF2B5EF4-FFF2-40B4-BE49-F238E27FC236}">
                <a16:creationId xmlns:a16="http://schemas.microsoft.com/office/drawing/2014/main" id="{4BF18E3B-A482-4DC9-A8CB-7D5BB6BAB3CB}"/>
              </a:ext>
            </a:extLst>
          </p:cNvPr>
          <p:cNvPicPr>
            <a:picLocks noChangeAspect="1"/>
          </p:cNvPicPr>
          <p:nvPr/>
        </p:nvPicPr>
        <p:blipFill>
          <a:blip r:embed="rId3"/>
          <a:stretch>
            <a:fillRect/>
          </a:stretch>
        </p:blipFill>
        <p:spPr>
          <a:xfrm>
            <a:off x="5498522" y="3549719"/>
            <a:ext cx="4076700" cy="3095625"/>
          </a:xfrm>
          <a:prstGeom prst="rect">
            <a:avLst/>
          </a:prstGeom>
        </p:spPr>
      </p:pic>
      <p:cxnSp>
        <p:nvCxnSpPr>
          <p:cNvPr id="16" name="Connector: Curved 15">
            <a:extLst>
              <a:ext uri="{FF2B5EF4-FFF2-40B4-BE49-F238E27FC236}">
                <a16:creationId xmlns:a16="http://schemas.microsoft.com/office/drawing/2014/main" id="{CE05E28B-C231-4B75-AFA0-584133C46D7B}"/>
              </a:ext>
            </a:extLst>
          </p:cNvPr>
          <p:cNvCxnSpPr/>
          <p:nvPr/>
        </p:nvCxnSpPr>
        <p:spPr>
          <a:xfrm flipV="1">
            <a:off x="3643745" y="4752109"/>
            <a:ext cx="1510146" cy="734291"/>
          </a:xfrm>
          <a:prstGeom prst="curvedConnector3">
            <a:avLst/>
          </a:prstGeom>
          <a:ln w="38100">
            <a:solidFill>
              <a:schemeClr val="bg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61245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10BF64-3637-4495-A350-9ABC389081CB}"/>
              </a:ext>
            </a:extLst>
          </p:cNvPr>
          <p:cNvSpPr txBox="1"/>
          <p:nvPr/>
        </p:nvSpPr>
        <p:spPr>
          <a:xfrm>
            <a:off x="955963" y="1052994"/>
            <a:ext cx="10806544" cy="523220"/>
          </a:xfrm>
          <a:prstGeom prst="rect">
            <a:avLst/>
          </a:prstGeom>
          <a:noFill/>
        </p:spPr>
        <p:txBody>
          <a:bodyPr wrap="square" rtlCol="0">
            <a:spAutoFit/>
          </a:bodyPr>
          <a:lstStyle/>
          <a:p>
            <a:pPr marL="514350" indent="-514350">
              <a:buAutoNum type="arabicParenR" startAt="3"/>
            </a:pPr>
            <a:r>
              <a:rPr lang="fr-FR" sz="2800" dirty="0">
                <a:latin typeface="Andalus" panose="02020603050405020304" pitchFamily="18" charset="-78"/>
                <a:cs typeface="Italic Outline Art" panose="02010400000000000000" pitchFamily="2" charset="-78"/>
              </a:rPr>
              <a:t>Normalisation des variables quantitatives </a:t>
            </a:r>
            <a:r>
              <a:rPr lang="fr-FR" sz="2800" dirty="0">
                <a:latin typeface="Arabic Typesetting" panose="03020402040406030203" pitchFamily="66" charset="-78"/>
                <a:cs typeface="Arabic Typesetting" panose="03020402040406030203" pitchFamily="66" charset="-78"/>
              </a:rPr>
              <a:t>:</a:t>
            </a:r>
            <a:r>
              <a:rPr lang="fr-FR" sz="2800" b="0" dirty="0">
                <a:effectLst/>
                <a:latin typeface="Arabic Typesetting" panose="03020402040406030203" pitchFamily="66" charset="-78"/>
                <a:cs typeface="Arabic Typesetting" panose="03020402040406030203" pitchFamily="66" charset="-78"/>
              </a:rPr>
              <a:t> </a:t>
            </a:r>
            <a:endParaRPr lang="en-GB" sz="2800" b="0" dirty="0">
              <a:effectLst/>
              <a:latin typeface="Andalus" panose="02020603050405020304" pitchFamily="18" charset="-78"/>
              <a:cs typeface="Italic Outline Art" panose="02010400000000000000" pitchFamily="2" charset="-78"/>
            </a:endParaRPr>
          </a:p>
        </p:txBody>
      </p:sp>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544D33B3-E9AB-4E8A-969D-6FD087302B97}"/>
                  </a:ext>
                </a:extLst>
              </p:cNvPr>
              <p:cNvSpPr txBox="1"/>
              <p:nvPr/>
            </p:nvSpPr>
            <p:spPr>
              <a:xfrm>
                <a:off x="3401435" y="1936433"/>
                <a:ext cx="4613275" cy="901700"/>
              </a:xfrm>
              <a:prstGeom prst="rect">
                <a:avLst/>
              </a:prstGeom>
              <a:noFill/>
            </p:spPr>
            <p:txBody>
              <a:bodyPr wrap="square" rtlCol="0">
                <a:spAutoFit/>
              </a:bodyPr>
              <a:lstStyle/>
              <a:p>
                <a:pPr>
                  <a:lnSpc>
                    <a:spcPct val="107000"/>
                  </a:lnSpc>
                  <a:spcAft>
                    <a:spcPts val="800"/>
                  </a:spcAft>
                </a:pPr>
                <a:r>
                  <a:rPr lang="en-GB" sz="2800" kern="12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X</a:t>
                </a:r>
                <a:r>
                  <a:rPr lang="en-GB" sz="2800" kern="1200" baseline="-250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norm </a:t>
                </a:r>
                <a:r>
                  <a:rPr lang="en-GB" sz="2800" kern="12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 </a:t>
                </a:r>
                <a14:m>
                  <m:oMath xmlns:m="http://schemas.openxmlformats.org/officeDocument/2006/math">
                    <m:f>
                      <m:fPr>
                        <m:ctrlPr>
                          <a:rPr lang="en-GB" sz="2800" i="1" kern="12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𝑋</m:t>
                        </m:r>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 </m:t>
                        </m:r>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𝑛𝑜𝑛</m:t>
                        </m:r>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m:t>
                        </m:r>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𝑛𝑜𝑟𝑚𝑎</m:t>
                        </m:r>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 −</m:t>
                        </m:r>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𝑀𝑖𝑛</m:t>
                        </m:r>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m:t>
                        </m:r>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𝑋</m:t>
                        </m:r>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1)</m:t>
                        </m:r>
                      </m:num>
                      <m:den>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𝑀𝑎𝑥</m:t>
                        </m:r>
                        <m:d>
                          <m:dPr>
                            <m:ctrlPr>
                              <a:rPr lang="en-GB" sz="2800" i="1" kern="12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𝑋</m:t>
                            </m:r>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1</m:t>
                            </m:r>
                          </m:e>
                        </m:d>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m:t>
                        </m:r>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𝑀𝑖𝑛</m:t>
                        </m:r>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m:t>
                        </m:r>
                        <m:r>
                          <a:rPr lang="fr-FR"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𝑋</m:t>
                        </m:r>
                        <m:r>
                          <a:rPr lang="en-GB" sz="2800" i="1" kern="1200">
                            <a:solidFill>
                              <a:srgbClr val="000000"/>
                            </a:solidFill>
                            <a:effectLst/>
                            <a:latin typeface="Cambria Math" panose="02040503050406030204" pitchFamily="18" charset="0"/>
                            <a:ea typeface="Calibri" panose="020F0502020204030204" pitchFamily="34" charset="0"/>
                            <a:cs typeface="Arial" panose="020B0604020202020204" pitchFamily="34" charset="0"/>
                          </a:rPr>
                          <m:t>1)</m:t>
                        </m:r>
                      </m:den>
                    </m:f>
                  </m:oMath>
                </a14:m>
                <a:endParaRPr lang="en-GB" sz="11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5" name="TextBox 2">
                <a:extLst>
                  <a:ext uri="{FF2B5EF4-FFF2-40B4-BE49-F238E27FC236}">
                    <a16:creationId xmlns:a16="http://schemas.microsoft.com/office/drawing/2014/main" id="{544D33B3-E9AB-4E8A-969D-6FD087302B97}"/>
                  </a:ext>
                </a:extLst>
              </p:cNvPr>
              <p:cNvSpPr txBox="1">
                <a:spLocks noRot="1" noChangeAspect="1" noMove="1" noResize="1" noEditPoints="1" noAdjustHandles="1" noChangeArrowheads="1" noChangeShapeType="1" noTextEdit="1"/>
              </p:cNvSpPr>
              <p:nvPr/>
            </p:nvSpPr>
            <p:spPr>
              <a:xfrm>
                <a:off x="3401435" y="1936433"/>
                <a:ext cx="4613275" cy="901700"/>
              </a:xfrm>
              <a:prstGeom prst="rect">
                <a:avLst/>
              </a:prstGeom>
              <a:blipFill>
                <a:blip r:embed="rId2"/>
                <a:stretch>
                  <a:fillRect l="-2774"/>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00E6AEDC-40C7-452B-B590-C07F67702774}"/>
              </a:ext>
            </a:extLst>
          </p:cNvPr>
          <p:cNvSpPr txBox="1"/>
          <p:nvPr/>
        </p:nvSpPr>
        <p:spPr>
          <a:xfrm>
            <a:off x="831271" y="3901102"/>
            <a:ext cx="10806544" cy="523220"/>
          </a:xfrm>
          <a:prstGeom prst="rect">
            <a:avLst/>
          </a:prstGeom>
          <a:noFill/>
        </p:spPr>
        <p:txBody>
          <a:bodyPr wrap="square" rtlCol="0">
            <a:spAutoFit/>
          </a:bodyPr>
          <a:lstStyle/>
          <a:p>
            <a:r>
              <a:rPr lang="fr-FR" sz="2800" dirty="0">
                <a:latin typeface="Andalus" panose="02020603050405020304" pitchFamily="18" charset="-78"/>
                <a:cs typeface="Italic Outline Art" panose="02010400000000000000" pitchFamily="2" charset="-78"/>
              </a:rPr>
              <a:t>4)  Diviser les données en données d'entraînement et de test</a:t>
            </a:r>
            <a:r>
              <a:rPr lang="fr-FR" sz="2800" dirty="0">
                <a:solidFill>
                  <a:schemeClr val="bg1"/>
                </a:solidFill>
                <a:latin typeface="Arabic Typesetting" panose="03020402040406030203" pitchFamily="66" charset="-78"/>
                <a:cs typeface="Arabic Typesetting" panose="03020402040406030203" pitchFamily="66" charset="-78"/>
              </a:rPr>
              <a:t> </a:t>
            </a:r>
            <a:r>
              <a:rPr lang="fr-FR" sz="2800" dirty="0">
                <a:latin typeface="Arabic Typesetting" panose="03020402040406030203" pitchFamily="66" charset="-78"/>
                <a:cs typeface="Arabic Typesetting" panose="03020402040406030203" pitchFamily="66" charset="-78"/>
              </a:rPr>
              <a:t>.</a:t>
            </a:r>
            <a:endParaRPr lang="en-GB" sz="2800" b="0" dirty="0">
              <a:effectLst/>
              <a:latin typeface="Andalus" panose="02020603050405020304" pitchFamily="18" charset="-78"/>
              <a:cs typeface="Italic Outline Art" panose="02010400000000000000" pitchFamily="2" charset="-78"/>
            </a:endParaRPr>
          </a:p>
        </p:txBody>
      </p:sp>
    </p:spTree>
    <p:extLst>
      <p:ext uri="{BB962C8B-B14F-4D97-AF65-F5344CB8AC3E}">
        <p14:creationId xmlns:p14="http://schemas.microsoft.com/office/powerpoint/2010/main" val="3133584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6A643C-221B-40FB-B240-6086D36CC7DE}"/>
              </a:ext>
            </a:extLst>
          </p:cNvPr>
          <p:cNvSpPr>
            <a:spLocks noGrp="1"/>
          </p:cNvSpPr>
          <p:nvPr>
            <p:ph idx="1"/>
          </p:nvPr>
        </p:nvSpPr>
        <p:spPr>
          <a:xfrm>
            <a:off x="331761" y="920486"/>
            <a:ext cx="10515600" cy="1014557"/>
          </a:xfrm>
        </p:spPr>
        <p:txBody>
          <a:bodyPr>
            <a:normAutofit/>
          </a:bodyPr>
          <a:lstStyle/>
          <a:p>
            <a:pPr>
              <a:buFont typeface="Wingdings" panose="05000000000000000000" pitchFamily="2" charset="2"/>
              <a:buChar char="ü"/>
            </a:pPr>
            <a:r>
              <a:rPr lang="fr-FR" dirty="0">
                <a:latin typeface="Footlight MT Light" panose="0204060206030A020304" pitchFamily="18" charset="0"/>
              </a:rPr>
              <a:t>Fonction d’activation :  Logistique</a:t>
            </a:r>
          </a:p>
          <a:p>
            <a:pPr>
              <a:buFont typeface="Wingdings" panose="05000000000000000000" pitchFamily="2" charset="2"/>
              <a:buChar char="ü"/>
            </a:pPr>
            <a:r>
              <a:rPr lang="fr-FR" dirty="0">
                <a:latin typeface="Footlight MT Light" panose="0204060206030A020304" pitchFamily="18" charset="0"/>
              </a:rPr>
              <a:t>Fonction d’erreur:    ∑ (</a:t>
            </a:r>
            <a:r>
              <a:rPr lang="cy-GB" dirty="0">
                <a:latin typeface="Footlight MT Light" panose="0204060206030A020304" pitchFamily="18" charset="0"/>
              </a:rPr>
              <a:t>ŷ-y</a:t>
            </a:r>
            <a:r>
              <a:rPr lang="fr-FR" dirty="0">
                <a:latin typeface="Footlight MT Light" panose="0204060206030A020304" pitchFamily="18" charset="0"/>
              </a:rPr>
              <a:t>)²</a:t>
            </a:r>
          </a:p>
          <a:p>
            <a:pPr marL="0" indent="0">
              <a:buNone/>
            </a:pPr>
            <a:endParaRPr lang="fr-FR" dirty="0"/>
          </a:p>
        </p:txBody>
      </p:sp>
      <p:sp>
        <p:nvSpPr>
          <p:cNvPr id="4" name="Title 1">
            <a:extLst>
              <a:ext uri="{FF2B5EF4-FFF2-40B4-BE49-F238E27FC236}">
                <a16:creationId xmlns:a16="http://schemas.microsoft.com/office/drawing/2014/main" id="{7C9783CE-F37E-46C1-ACE2-62D783FA549A}"/>
              </a:ext>
            </a:extLst>
          </p:cNvPr>
          <p:cNvSpPr txBox="1">
            <a:spLocks/>
          </p:cNvSpPr>
          <p:nvPr/>
        </p:nvSpPr>
        <p:spPr>
          <a:xfrm>
            <a:off x="2301836" y="142918"/>
            <a:ext cx="7588323" cy="6627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solidFill>
                  <a:srgbClr val="FFFF00"/>
                </a:solidFill>
                <a:latin typeface="Colonna MT" panose="04020805060202030203" pitchFamily="82" charset="0"/>
              </a:rPr>
              <a:t>Entrainer et tester le réseaux</a:t>
            </a:r>
            <a:endParaRPr lang="en-GB" sz="4800" dirty="0">
              <a:solidFill>
                <a:srgbClr val="FFFF00"/>
              </a:solidFill>
              <a:latin typeface="Colonna MT" panose="04020805060202030203" pitchFamily="82" charset="0"/>
            </a:endParaRPr>
          </a:p>
        </p:txBody>
      </p:sp>
      <p:pic>
        <p:nvPicPr>
          <p:cNvPr id="7" name="Image 7">
            <a:extLst>
              <a:ext uri="{FF2B5EF4-FFF2-40B4-BE49-F238E27FC236}">
                <a16:creationId xmlns:a16="http://schemas.microsoft.com/office/drawing/2014/main" id="{7D76EDD5-C113-4FAB-A469-2D65DBFF085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852300" y="693613"/>
            <a:ext cx="2219635" cy="1019317"/>
          </a:xfrm>
          <a:prstGeom prst="rect">
            <a:avLst/>
          </a:prstGeom>
        </p:spPr>
      </p:pic>
      <p:sp>
        <p:nvSpPr>
          <p:cNvPr id="10" name="TextBox 9">
            <a:extLst>
              <a:ext uri="{FF2B5EF4-FFF2-40B4-BE49-F238E27FC236}">
                <a16:creationId xmlns:a16="http://schemas.microsoft.com/office/drawing/2014/main" id="{1A0C9223-8FE1-4A57-89F0-16BF141734F1}"/>
              </a:ext>
            </a:extLst>
          </p:cNvPr>
          <p:cNvSpPr txBox="1"/>
          <p:nvPr/>
        </p:nvSpPr>
        <p:spPr>
          <a:xfrm>
            <a:off x="231076" y="4709263"/>
            <a:ext cx="3976255" cy="584775"/>
          </a:xfrm>
          <a:prstGeom prst="rect">
            <a:avLst/>
          </a:prstGeom>
          <a:noFill/>
        </p:spPr>
        <p:txBody>
          <a:bodyPr wrap="square" rtlCol="0">
            <a:spAutoFit/>
          </a:bodyPr>
          <a:lstStyle/>
          <a:p>
            <a:pPr algn="ctr"/>
            <a:r>
              <a:rPr lang="fr-FR" sz="1600" dirty="0">
                <a:latin typeface="Bahnschrift SemiBold" panose="020B0502040204020203" pitchFamily="34" charset="0"/>
              </a:rPr>
              <a:t>L’erreur quadratique moyenne par rapport au nombre d’itération</a:t>
            </a:r>
            <a:endParaRPr lang="en-GB" sz="1600" dirty="0">
              <a:latin typeface="Bahnschrift SemiBold" panose="020B0502040204020203" pitchFamily="34" charset="0"/>
            </a:endParaRPr>
          </a:p>
        </p:txBody>
      </p:sp>
      <p:sp>
        <p:nvSpPr>
          <p:cNvPr id="15" name="TextBox 14">
            <a:extLst>
              <a:ext uri="{FF2B5EF4-FFF2-40B4-BE49-F238E27FC236}">
                <a16:creationId xmlns:a16="http://schemas.microsoft.com/office/drawing/2014/main" id="{9733039C-0841-487D-8899-CC51E15A428D}"/>
              </a:ext>
            </a:extLst>
          </p:cNvPr>
          <p:cNvSpPr txBox="1"/>
          <p:nvPr/>
        </p:nvSpPr>
        <p:spPr>
          <a:xfrm>
            <a:off x="4057403" y="6068751"/>
            <a:ext cx="2477058" cy="646331"/>
          </a:xfrm>
          <a:prstGeom prst="rect">
            <a:avLst/>
          </a:prstGeom>
          <a:noFill/>
        </p:spPr>
        <p:txBody>
          <a:bodyPr wrap="square" rtlCol="0">
            <a:spAutoFit/>
          </a:bodyPr>
          <a:lstStyle/>
          <a:p>
            <a:pPr algn="ctr"/>
            <a:r>
              <a:rPr lang="fr-FR" dirty="0">
                <a:latin typeface="Bahnschrift SemiBold" panose="020B0502040204020203" pitchFamily="34" charset="0"/>
              </a:rPr>
              <a:t>Les poids et le bais qui optimisent l’erreur</a:t>
            </a:r>
            <a:endParaRPr lang="en-GB" dirty="0">
              <a:latin typeface="Bahnschrift SemiBold" panose="020B0502040204020203" pitchFamily="34" charset="0"/>
            </a:endParaRPr>
          </a:p>
        </p:txBody>
      </p:sp>
      <p:pic>
        <p:nvPicPr>
          <p:cNvPr id="17" name="Picture 16">
            <a:extLst>
              <a:ext uri="{FF2B5EF4-FFF2-40B4-BE49-F238E27FC236}">
                <a16:creationId xmlns:a16="http://schemas.microsoft.com/office/drawing/2014/main" id="{32D176EF-D452-441C-8465-11C6F6C631CF}"/>
              </a:ext>
            </a:extLst>
          </p:cNvPr>
          <p:cNvPicPr>
            <a:picLocks noChangeAspect="1"/>
          </p:cNvPicPr>
          <p:nvPr/>
        </p:nvPicPr>
        <p:blipFill>
          <a:blip r:embed="rId3">
            <a:duotone>
              <a:schemeClr val="accent1">
                <a:shade val="45000"/>
                <a:satMod val="135000"/>
              </a:schemeClr>
              <a:prstClr val="white"/>
            </a:duotone>
          </a:blip>
          <a:stretch>
            <a:fillRect/>
          </a:stretch>
        </p:blipFill>
        <p:spPr>
          <a:xfrm>
            <a:off x="4213510" y="1903208"/>
            <a:ext cx="2378573" cy="4154707"/>
          </a:xfrm>
          <a:prstGeom prst="rect">
            <a:avLst/>
          </a:prstGeom>
        </p:spPr>
      </p:pic>
      <p:pic>
        <p:nvPicPr>
          <p:cNvPr id="19" name="Picture 18">
            <a:extLst>
              <a:ext uri="{FF2B5EF4-FFF2-40B4-BE49-F238E27FC236}">
                <a16:creationId xmlns:a16="http://schemas.microsoft.com/office/drawing/2014/main" id="{88C3755E-5605-4CAE-A4A5-5E86F5AD6DDA}"/>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116885" y="2370035"/>
            <a:ext cx="3781691" cy="2276369"/>
          </a:xfrm>
          <a:prstGeom prst="rect">
            <a:avLst/>
          </a:prstGeom>
        </p:spPr>
      </p:pic>
      <p:sp>
        <p:nvSpPr>
          <p:cNvPr id="6" name="TextBox 5">
            <a:extLst>
              <a:ext uri="{FF2B5EF4-FFF2-40B4-BE49-F238E27FC236}">
                <a16:creationId xmlns:a16="http://schemas.microsoft.com/office/drawing/2014/main" id="{0EC50F1E-9FA9-4C25-B7F2-EFB72CC9C14E}"/>
              </a:ext>
            </a:extLst>
          </p:cNvPr>
          <p:cNvSpPr txBox="1"/>
          <p:nvPr/>
        </p:nvSpPr>
        <p:spPr>
          <a:xfrm>
            <a:off x="7107382" y="4646404"/>
            <a:ext cx="4613563" cy="400110"/>
          </a:xfrm>
          <a:prstGeom prst="rect">
            <a:avLst/>
          </a:prstGeom>
          <a:noFill/>
        </p:spPr>
        <p:txBody>
          <a:bodyPr wrap="square" rtlCol="0">
            <a:spAutoFit/>
          </a:bodyPr>
          <a:lstStyle/>
          <a:p>
            <a:pPr algn="ctr"/>
            <a:r>
              <a:rPr lang="fr-FR" sz="2000" dirty="0">
                <a:latin typeface="Bahnschrift Condensed" panose="020B0502040204020203" pitchFamily="34" charset="0"/>
              </a:rPr>
              <a:t>Matrice de confusion</a:t>
            </a:r>
            <a:endParaRPr lang="en-GB" sz="2000" dirty="0">
              <a:latin typeface="Bahnschrift Condensed" panose="020B0502040204020203" pitchFamily="34" charset="0"/>
            </a:endParaRPr>
          </a:p>
        </p:txBody>
      </p:sp>
      <p:pic>
        <p:nvPicPr>
          <p:cNvPr id="9" name="Picture 8">
            <a:extLst>
              <a:ext uri="{FF2B5EF4-FFF2-40B4-BE49-F238E27FC236}">
                <a16:creationId xmlns:a16="http://schemas.microsoft.com/office/drawing/2014/main" id="{5B66BA8F-ACCA-4C62-92B0-97DE7889344A}"/>
              </a:ext>
            </a:extLst>
          </p:cNvPr>
          <p:cNvPicPr>
            <a:picLocks noChangeAspect="1"/>
          </p:cNvPicPr>
          <p:nvPr/>
        </p:nvPicPr>
        <p:blipFill>
          <a:blip r:embed="rId6">
            <a:duotone>
              <a:schemeClr val="accent1">
                <a:shade val="45000"/>
                <a:satMod val="135000"/>
              </a:schemeClr>
              <a:prstClr val="white"/>
            </a:duotone>
          </a:blip>
          <a:stretch>
            <a:fillRect/>
          </a:stretch>
        </p:blipFill>
        <p:spPr>
          <a:xfrm>
            <a:off x="6863119" y="3399362"/>
            <a:ext cx="5211996" cy="1247042"/>
          </a:xfrm>
          <a:prstGeom prst="rect">
            <a:avLst/>
          </a:prstGeom>
        </p:spPr>
      </p:pic>
    </p:spTree>
    <p:extLst>
      <p:ext uri="{BB962C8B-B14F-4D97-AF65-F5344CB8AC3E}">
        <p14:creationId xmlns:p14="http://schemas.microsoft.com/office/powerpoint/2010/main" val="1073747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1F1B4A-B513-4691-8708-625A72A26985}"/>
              </a:ext>
            </a:extLst>
          </p:cNvPr>
          <p:cNvSpPr txBox="1">
            <a:spLocks/>
          </p:cNvSpPr>
          <p:nvPr/>
        </p:nvSpPr>
        <p:spPr>
          <a:xfrm>
            <a:off x="2816439" y="910900"/>
            <a:ext cx="6559115" cy="6627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800" dirty="0">
                <a:solidFill>
                  <a:srgbClr val="FFFF00"/>
                </a:solidFill>
                <a:latin typeface="Colonna MT" panose="04020805060202030203" pitchFamily="82" charset="0"/>
              </a:rPr>
              <a:t>Conclusion</a:t>
            </a:r>
            <a:endParaRPr lang="en-GB" sz="4800" dirty="0">
              <a:solidFill>
                <a:srgbClr val="FFFF00"/>
              </a:solidFill>
              <a:latin typeface="Colonna MT" panose="04020805060202030203" pitchFamily="82" charset="0"/>
            </a:endParaRPr>
          </a:p>
        </p:txBody>
      </p:sp>
      <p:sp>
        <p:nvSpPr>
          <p:cNvPr id="5" name="TextBox 4">
            <a:extLst>
              <a:ext uri="{FF2B5EF4-FFF2-40B4-BE49-F238E27FC236}">
                <a16:creationId xmlns:a16="http://schemas.microsoft.com/office/drawing/2014/main" id="{1ECAAFB0-9769-4EFD-B93B-2D8E8AC39F83}"/>
              </a:ext>
            </a:extLst>
          </p:cNvPr>
          <p:cNvSpPr txBox="1"/>
          <p:nvPr/>
        </p:nvSpPr>
        <p:spPr>
          <a:xfrm>
            <a:off x="785444" y="1905506"/>
            <a:ext cx="10621107" cy="3046988"/>
          </a:xfrm>
          <a:prstGeom prst="rect">
            <a:avLst/>
          </a:prstGeom>
          <a:noFill/>
        </p:spPr>
        <p:txBody>
          <a:bodyPr wrap="square" rtlCol="0">
            <a:spAutoFit/>
          </a:bodyPr>
          <a:lstStyle/>
          <a:p>
            <a:pPr marL="342900" indent="-342900">
              <a:buFont typeface="Wingdings" panose="05000000000000000000" pitchFamily="2" charset="2"/>
              <a:buChar char="Ø"/>
            </a:pPr>
            <a:r>
              <a:rPr lang="fr-FR" sz="2400" b="1" dirty="0">
                <a:latin typeface="PMingLiU-ExtB" panose="02020500000000000000" pitchFamily="18" charset="-120"/>
                <a:ea typeface="PMingLiU-ExtB" panose="02020500000000000000" pitchFamily="18" charset="-120"/>
              </a:rPr>
              <a:t>presque tous les facteurs inclus dans l'ensemble de données ont fourni des indicateurs forts du risque de maladie cardiaque chez les patients. Ces facteurs devraient être couramment surveillés chez les patients, en particulier chez les personnes âgées et les hommes.</a:t>
            </a:r>
          </a:p>
          <a:p>
            <a:pPr marL="342900" indent="-342900">
              <a:buFont typeface="Wingdings" panose="05000000000000000000" pitchFamily="2" charset="2"/>
              <a:buChar char="Ø"/>
            </a:pPr>
            <a:r>
              <a:rPr lang="fr-FR" sz="2400" b="1" dirty="0">
                <a:latin typeface="PMingLiU-ExtB" panose="02020500000000000000" pitchFamily="18" charset="-120"/>
                <a:ea typeface="PMingLiU-ExtB" panose="02020500000000000000" pitchFamily="18" charset="-120"/>
              </a:rPr>
              <a:t>Ce modèle détecte correctement 88% des patients qui ont une maladie cardiaque. 14 % des patients identifiés comme étant à risque n'auront pas de maladie cardiaque, mais il s'agit d'un nombre acceptable de faux positifs pour ce problème. Ce sera un excellent outil pour les professionnels de la santé pour identifier les patients à risque.</a:t>
            </a:r>
            <a:endParaRPr lang="en-GB" sz="2400" b="1" dirty="0">
              <a:latin typeface="PMingLiU-ExtB" panose="02020500000000000000" pitchFamily="18" charset="-120"/>
              <a:ea typeface="PMingLiU-ExtB" panose="02020500000000000000" pitchFamily="18" charset="-120"/>
            </a:endParaRPr>
          </a:p>
        </p:txBody>
      </p:sp>
    </p:spTree>
    <p:extLst>
      <p:ext uri="{BB962C8B-B14F-4D97-AF65-F5344CB8AC3E}">
        <p14:creationId xmlns:p14="http://schemas.microsoft.com/office/powerpoint/2010/main" val="154716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E2900F-C706-4622-A118-9EB15DB9EE8C}"/>
              </a:ext>
            </a:extLst>
          </p:cNvPr>
          <p:cNvPicPr>
            <a:picLocks noChangeAspect="1"/>
          </p:cNvPicPr>
          <p:nvPr/>
        </p:nvPicPr>
        <p:blipFill>
          <a:blip r:embed="rId2"/>
          <a:stretch>
            <a:fillRect/>
          </a:stretch>
        </p:blipFill>
        <p:spPr>
          <a:xfrm>
            <a:off x="0" y="15240"/>
            <a:ext cx="12219213" cy="6842759"/>
          </a:xfrm>
          <a:prstGeom prst="rect">
            <a:avLst/>
          </a:prstGeom>
        </p:spPr>
      </p:pic>
    </p:spTree>
    <p:extLst>
      <p:ext uri="{BB962C8B-B14F-4D97-AF65-F5344CB8AC3E}">
        <p14:creationId xmlns:p14="http://schemas.microsoft.com/office/powerpoint/2010/main" val="1051658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883</TotalTime>
  <Words>650</Words>
  <Application>Microsoft Office PowerPoint</Application>
  <PresentationFormat>Widescreen</PresentationFormat>
  <Paragraphs>72</Paragraphs>
  <Slides>12</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12</vt:i4>
      </vt:variant>
    </vt:vector>
  </HeadingPairs>
  <TitlesOfParts>
    <vt:vector size="30" baseType="lpstr">
      <vt:lpstr>PMingLiU-ExtB</vt:lpstr>
      <vt:lpstr>Agency FB</vt:lpstr>
      <vt:lpstr>Andalus</vt:lpstr>
      <vt:lpstr>Arabic Typesetting</vt:lpstr>
      <vt:lpstr>Arial</vt:lpstr>
      <vt:lpstr>Bahnschrift Condensed</vt:lpstr>
      <vt:lpstr>Bahnschrift Light Condensed</vt:lpstr>
      <vt:lpstr>Bahnschrift SemiBold</vt:lpstr>
      <vt:lpstr>Baskerville Old Face</vt:lpstr>
      <vt:lpstr>Calibri</vt:lpstr>
      <vt:lpstr>Calibri Light</vt:lpstr>
      <vt:lpstr>Cambria Math</vt:lpstr>
      <vt:lpstr>Colonna MT</vt:lpstr>
      <vt:lpstr>Consolas</vt:lpstr>
      <vt:lpstr>Footlight MT Light</vt:lpstr>
      <vt:lpstr>Lucida Calligraphy</vt:lpstr>
      <vt:lpstr>Wingdings</vt:lpstr>
      <vt:lpstr>Office Theme</vt:lpstr>
      <vt:lpstr>UNIVERSITE DES SCIENCES ET TECHNOLOGIE HOUARI BOUMEDIENE FACULTE  DE  MATHÉMATIQUES DEPARTEMENT DÉPARTEMENT DE PROBA STAT MASTER2-SPA </vt:lpstr>
      <vt:lpstr>Objectif du projet</vt:lpstr>
      <vt:lpstr>PowerPoint Presentation</vt:lpstr>
      <vt:lpstr>PowerPoint Presentation</vt:lpstr>
      <vt:lpstr>PowerPoint Presentation</vt:lpstr>
      <vt:lpstr>PowerPoint Presentation</vt:lpstr>
      <vt:lpstr>PowerPoint Presentation</vt:lpstr>
      <vt:lpstr>Préparation des données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Neural Network Heart Failiure detection</dc:title>
  <dc:creator>BRA HIM</dc:creator>
  <cp:lastModifiedBy>BRA HIM</cp:lastModifiedBy>
  <cp:revision>9</cp:revision>
  <dcterms:created xsi:type="dcterms:W3CDTF">2022-01-06T10:23:19Z</dcterms:created>
  <dcterms:modified xsi:type="dcterms:W3CDTF">2022-01-09T10:59:22Z</dcterms:modified>
</cp:coreProperties>
</file>